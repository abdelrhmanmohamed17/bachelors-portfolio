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5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7" r:id="rId12"/>
    <p:sldId id="268" r:id="rId13"/>
    <p:sldId id="269" r:id="rId14"/>
    <p:sldId id="270" r:id="rId15"/>
    <p:sldId id="271" r:id="rId16"/>
  </p:sldIdLst>
  <p:sldSz cx="10058400" cy="7772400"/>
  <p:notesSz cx="10058400" cy="7772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4660"/>
  </p:normalViewPr>
  <p:slideViewPr>
    <p:cSldViewPr>
      <p:cViewPr>
        <p:scale>
          <a:sx n="125" d="100"/>
          <a:sy n="125" d="100"/>
        </p:scale>
        <p:origin x="1014" y="-11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86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79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E111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E111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53028" y="2583542"/>
            <a:ext cx="6255656" cy="4136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E111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9EEE-16ED-4176-B32B-5AB272ABC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2454464"/>
            <a:ext cx="7543800" cy="1523494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40F01-B648-46AB-9E5B-18067C2E0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304699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3118A-983C-4BAB-A2F5-F241AF81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4B524534-9969-4CB2-9ABD-C21CB6C0DCA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13612-C528-4317-81AF-FF4A8727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7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E5F64-03B8-4684-BD50-660EC9D3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51B785E3-51D0-49B5-A3F2-7F4742E74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9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1757" y="1592107"/>
            <a:ext cx="9154885" cy="29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E111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59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7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pcclass.blogspot.com/2015/01/animal-classification.html" TargetMode="External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358140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Bodoni MT" panose="02070603080606020203" pitchFamily="18" charset="0"/>
              </a:rPr>
              <a:t>Name: </a:t>
            </a:r>
            <a:r>
              <a:rPr lang="en-US" sz="3600" b="1" dirty="0" err="1" smtClean="0">
                <a:latin typeface="Bodoni MT" panose="02070603080606020203" pitchFamily="18" charset="0"/>
              </a:rPr>
              <a:t>Abdelrhman</a:t>
            </a:r>
            <a:r>
              <a:rPr lang="en-US" sz="3600" b="1" dirty="0" smtClean="0">
                <a:latin typeface="Bodoni MT" panose="02070603080606020203" pitchFamily="18" charset="0"/>
              </a:rPr>
              <a:t> Mohamed </a:t>
            </a:r>
            <a:r>
              <a:rPr lang="en-US" sz="3600" b="1" dirty="0" err="1" smtClean="0">
                <a:latin typeface="Bodoni MT" panose="02070603080606020203" pitchFamily="18" charset="0"/>
              </a:rPr>
              <a:t>Abdelhady</a:t>
            </a:r>
            <a:endParaRPr lang="en-US" sz="3600" b="1" dirty="0" smtClean="0">
              <a:latin typeface="Bodoni MT" panose="02070603080606020203" pitchFamily="18" charset="0"/>
            </a:endParaRPr>
          </a:p>
          <a:p>
            <a:pPr algn="ctr"/>
            <a:r>
              <a:rPr lang="en-US" sz="3600" b="1" dirty="0" smtClean="0">
                <a:latin typeface="Bodoni MT" panose="02070603080606020203" pitchFamily="18" charset="0"/>
              </a:rPr>
              <a:t>Id: 2022513643</a:t>
            </a:r>
            <a:endParaRPr lang="en-US" sz="3600" b="1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2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60069"/>
            <a:ext cx="10058400" cy="5652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1178"/>
            <a:ext cx="10058400" cy="56700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9543"/>
            <a:ext cx="10043885" cy="1277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2800" y="3265715"/>
            <a:ext cx="1494971" cy="1828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09371" y="3686629"/>
            <a:ext cx="1262742" cy="232228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687456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36285">
            <a:solidFill>
              <a:srgbClr val="DBCC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28" y="2322285"/>
            <a:ext cx="0" cy="4383405"/>
          </a:xfrm>
          <a:custGeom>
            <a:avLst/>
            <a:gdLst/>
            <a:ahLst/>
            <a:cxnLst/>
            <a:rect l="l" t="t" r="r" b="b"/>
            <a:pathLst>
              <a:path h="4383405">
                <a:moveTo>
                  <a:pt x="0" y="4383314"/>
                </a:moveTo>
                <a:lnTo>
                  <a:pt x="0" y="0"/>
                </a:lnTo>
              </a:path>
            </a:pathLst>
          </a:custGeom>
          <a:ln w="7257">
            <a:solidFill>
              <a:srgbClr val="A8A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51143" y="2322285"/>
            <a:ext cx="0" cy="4383405"/>
          </a:xfrm>
          <a:custGeom>
            <a:avLst/>
            <a:gdLst/>
            <a:ahLst/>
            <a:cxnLst/>
            <a:rect l="l" t="t" r="r" b="b"/>
            <a:pathLst>
              <a:path h="4383405">
                <a:moveTo>
                  <a:pt x="0" y="4383314"/>
                </a:moveTo>
                <a:lnTo>
                  <a:pt x="0" y="0"/>
                </a:lnTo>
              </a:path>
            </a:pathLst>
          </a:custGeom>
          <a:ln w="14514">
            <a:solidFill>
              <a:srgbClr val="0C0F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19815" y="3181511"/>
            <a:ext cx="5161915" cy="2599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buClr>
                <a:srgbClr val="522ACF"/>
              </a:buClr>
              <a:buFont typeface="Arial"/>
              <a:buChar char="•"/>
              <a:tabLst>
                <a:tab pos="266700" algn="l"/>
              </a:tabLst>
            </a:pPr>
            <a:r>
              <a:rPr sz="1400" b="1" spc="-40" dirty="0">
                <a:solidFill>
                  <a:srgbClr val="110F15"/>
                </a:solidFill>
                <a:latin typeface="Arial"/>
                <a:cs typeface="Arial"/>
              </a:rPr>
              <a:t>1</a:t>
            </a:r>
            <a:r>
              <a:rPr sz="1400" b="1" spc="-20" dirty="0">
                <a:solidFill>
                  <a:srgbClr val="110F15"/>
                </a:solidFill>
                <a:latin typeface="Arial"/>
                <a:cs typeface="Arial"/>
              </a:rPr>
              <a:t>95</a:t>
            </a:r>
            <a:r>
              <a:rPr sz="1400" b="1" spc="-25" dirty="0">
                <a:solidFill>
                  <a:srgbClr val="110F15"/>
                </a:solidFill>
                <a:latin typeface="Arial"/>
                <a:cs typeface="Arial"/>
              </a:rPr>
              <a:t>7</a:t>
            </a:r>
            <a:r>
              <a:rPr sz="1400" b="1" spc="215" dirty="0">
                <a:solidFill>
                  <a:srgbClr val="49423A"/>
                </a:solidFill>
                <a:latin typeface="Arial"/>
                <a:cs typeface="Arial"/>
              </a:rPr>
              <a:t>:</a:t>
            </a:r>
            <a:r>
              <a:rPr sz="1400" b="1" spc="-50" dirty="0">
                <a:solidFill>
                  <a:srgbClr val="110F15"/>
                </a:solidFill>
                <a:latin typeface="Arial"/>
                <a:cs typeface="Arial"/>
              </a:rPr>
              <a:t>Introduct</a:t>
            </a:r>
            <a:r>
              <a:rPr sz="1400" b="1" spc="-35" dirty="0">
                <a:solidFill>
                  <a:srgbClr val="110F15"/>
                </a:solidFill>
                <a:latin typeface="Arial"/>
                <a:cs typeface="Arial"/>
              </a:rPr>
              <a:t>i</a:t>
            </a:r>
            <a:r>
              <a:rPr sz="1400" b="1" spc="-70" dirty="0">
                <a:solidFill>
                  <a:srgbClr val="110F15"/>
                </a:solidFill>
                <a:latin typeface="Arial"/>
                <a:cs typeface="Arial"/>
              </a:rPr>
              <a:t>on</a:t>
            </a:r>
            <a:r>
              <a:rPr sz="1400" b="1" spc="-150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400" b="1" spc="-75" dirty="0">
                <a:solidFill>
                  <a:srgbClr val="110F15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110F15"/>
                </a:solidFill>
                <a:latin typeface="Arial"/>
                <a:cs typeface="Arial"/>
              </a:rPr>
              <a:t>Perceptron</a:t>
            </a:r>
            <a:endParaRPr sz="1400" dirty="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  <a:spcBef>
                <a:spcPts val="725"/>
              </a:spcBef>
            </a:pP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Frank Rosenb</a:t>
            </a:r>
            <a:r>
              <a:rPr sz="1050" spc="30" dirty="0">
                <a:solidFill>
                  <a:srgbClr val="49423A"/>
                </a:solidFill>
                <a:latin typeface="Arial"/>
                <a:cs typeface="Arial"/>
              </a:rPr>
              <a:t>l</a:t>
            </a:r>
            <a:r>
              <a:rPr sz="1050" spc="50" dirty="0">
                <a:solidFill>
                  <a:srgbClr val="49423A"/>
                </a:solidFill>
                <a:latin typeface="Arial"/>
                <a:cs typeface="Arial"/>
              </a:rPr>
              <a:t>att</a:t>
            </a:r>
            <a:r>
              <a:rPr sz="1050" spc="2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5B524B"/>
                </a:solidFill>
                <a:latin typeface="Arial"/>
                <a:cs typeface="Arial"/>
              </a:rPr>
              <a:t>introduced</a:t>
            </a:r>
            <a:r>
              <a:rPr sz="1050" spc="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24B"/>
                </a:solidFill>
                <a:latin typeface="Arial"/>
                <a:cs typeface="Arial"/>
              </a:rPr>
              <a:t>the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49423A"/>
                </a:solidFill>
                <a:latin typeface="Arial"/>
                <a:cs typeface="Arial"/>
              </a:rPr>
              <a:t>P</a:t>
            </a:r>
            <a:r>
              <a:rPr sz="1050" spc="-40" dirty="0">
                <a:solidFill>
                  <a:srgbClr val="49423A"/>
                </a:solidFill>
                <a:latin typeface="Arial"/>
                <a:cs typeface="Arial"/>
              </a:rPr>
              <a:t>e</a:t>
            </a:r>
            <a:r>
              <a:rPr sz="1050" spc="45" dirty="0">
                <a:solidFill>
                  <a:srgbClr val="2B2118"/>
                </a:solidFill>
                <a:latin typeface="Arial"/>
                <a:cs typeface="Arial"/>
              </a:rPr>
              <a:t>r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ceptro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n</a:t>
            </a:r>
            <a:r>
              <a:rPr sz="1050" spc="155" dirty="0">
                <a:solidFill>
                  <a:srgbClr val="5B524B"/>
                </a:solidFill>
                <a:latin typeface="Arial"/>
                <a:cs typeface="Arial"/>
              </a:rPr>
              <a:t>,</a:t>
            </a:r>
            <a:r>
              <a:rPr sz="1050" dirty="0">
                <a:solidFill>
                  <a:srgbClr val="49423A"/>
                </a:solidFill>
                <a:latin typeface="Arial"/>
                <a:cs typeface="Arial"/>
              </a:rPr>
              <a:t>a</a:t>
            </a:r>
            <a:r>
              <a:rPr sz="1050" spc="-8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49423A"/>
                </a:solidFill>
                <a:latin typeface="Arial"/>
                <a:cs typeface="Arial"/>
              </a:rPr>
              <a:t>type</a:t>
            </a:r>
            <a:r>
              <a:rPr sz="1050" spc="-9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49423A"/>
                </a:solidFill>
                <a:latin typeface="Arial"/>
                <a:cs typeface="Arial"/>
              </a:rPr>
              <a:t>of</a:t>
            </a:r>
            <a:r>
              <a:rPr sz="1050" spc="-4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49423A"/>
                </a:solidFill>
                <a:latin typeface="Arial"/>
                <a:cs typeface="Arial"/>
              </a:rPr>
              <a:t>artifi</a:t>
            </a:r>
            <a:r>
              <a:rPr sz="1050" spc="160" dirty="0">
                <a:solidFill>
                  <a:srgbClr val="49423A"/>
                </a:solidFill>
                <a:latin typeface="Arial"/>
                <a:cs typeface="Arial"/>
              </a:rPr>
              <a:t>c</a:t>
            </a:r>
            <a:r>
              <a:rPr sz="1050" spc="-10" dirty="0">
                <a:solidFill>
                  <a:srgbClr val="110F15"/>
                </a:solidFill>
                <a:latin typeface="Arial"/>
                <a:cs typeface="Arial"/>
              </a:rPr>
              <a:t>i</a:t>
            </a:r>
            <a:r>
              <a:rPr sz="1050" spc="40" dirty="0">
                <a:solidFill>
                  <a:srgbClr val="49423A"/>
                </a:solidFill>
                <a:latin typeface="Arial"/>
                <a:cs typeface="Arial"/>
              </a:rPr>
              <a:t>a</a:t>
            </a:r>
            <a:r>
              <a:rPr sz="1050" spc="50" dirty="0">
                <a:solidFill>
                  <a:srgbClr val="110F15"/>
                </a:solidFill>
                <a:latin typeface="Arial"/>
                <a:cs typeface="Arial"/>
              </a:rPr>
              <a:t>l</a:t>
            </a:r>
            <a:r>
              <a:rPr sz="1050" spc="-120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5B524B"/>
                </a:solidFill>
                <a:latin typeface="Arial"/>
                <a:cs typeface="Arial"/>
              </a:rPr>
              <a:t>neur</a:t>
            </a:r>
            <a:r>
              <a:rPr sz="1050" spc="125" dirty="0">
                <a:solidFill>
                  <a:srgbClr val="5B524B"/>
                </a:solidFill>
                <a:latin typeface="Arial"/>
                <a:cs typeface="Arial"/>
              </a:rPr>
              <a:t>a</a:t>
            </a:r>
            <a:r>
              <a:rPr sz="1050" spc="50" dirty="0">
                <a:solidFill>
                  <a:srgbClr val="110F15"/>
                </a:solidFill>
                <a:latin typeface="Arial"/>
                <a:cs typeface="Arial"/>
              </a:rPr>
              <a:t>l</a:t>
            </a:r>
            <a:r>
              <a:rPr sz="1050" spc="-120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B524B"/>
                </a:solidFill>
                <a:latin typeface="Arial"/>
                <a:cs typeface="Arial"/>
              </a:rPr>
              <a:t>network.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Clr>
                <a:srgbClr val="522ACF"/>
              </a:buClr>
              <a:buFont typeface="Arial"/>
              <a:buChar char="•"/>
              <a:tabLst>
                <a:tab pos="266700" algn="l"/>
              </a:tabLst>
            </a:pPr>
            <a:r>
              <a:rPr sz="1400" b="1" spc="-40" dirty="0">
                <a:solidFill>
                  <a:srgbClr val="110F15"/>
                </a:solidFill>
                <a:latin typeface="Arial"/>
                <a:cs typeface="Arial"/>
              </a:rPr>
              <a:t>1</a:t>
            </a:r>
            <a:r>
              <a:rPr sz="1400" b="1" spc="-20" dirty="0">
                <a:solidFill>
                  <a:srgbClr val="110F15"/>
                </a:solidFill>
                <a:latin typeface="Arial"/>
                <a:cs typeface="Arial"/>
              </a:rPr>
              <a:t>96</a:t>
            </a:r>
            <a:r>
              <a:rPr sz="1400" b="1" spc="-25" dirty="0">
                <a:solidFill>
                  <a:srgbClr val="110F15"/>
                </a:solidFill>
                <a:latin typeface="Arial"/>
                <a:cs typeface="Arial"/>
              </a:rPr>
              <a:t>9</a:t>
            </a:r>
            <a:r>
              <a:rPr sz="1400" b="1" spc="155" dirty="0">
                <a:solidFill>
                  <a:srgbClr val="49423A"/>
                </a:solidFill>
                <a:latin typeface="Arial"/>
                <a:cs typeface="Arial"/>
              </a:rPr>
              <a:t>:</a:t>
            </a:r>
            <a:r>
              <a:rPr sz="1400" b="1" spc="-75" dirty="0">
                <a:solidFill>
                  <a:srgbClr val="110F15"/>
                </a:solidFill>
                <a:latin typeface="Arial"/>
                <a:cs typeface="Arial"/>
              </a:rPr>
              <a:t>Lim</a:t>
            </a:r>
            <a:r>
              <a:rPr sz="1400" b="1" spc="-110" dirty="0">
                <a:solidFill>
                  <a:srgbClr val="110F15"/>
                </a:solidFill>
                <a:latin typeface="Arial"/>
                <a:cs typeface="Arial"/>
              </a:rPr>
              <a:t>i</a:t>
            </a:r>
            <a:r>
              <a:rPr sz="1400" b="1" spc="-55" dirty="0">
                <a:solidFill>
                  <a:srgbClr val="110F15"/>
                </a:solidFill>
                <a:latin typeface="Arial"/>
                <a:cs typeface="Arial"/>
              </a:rPr>
              <a:t>tations</a:t>
            </a:r>
            <a:r>
              <a:rPr sz="1400" b="1" spc="-85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400" b="1" spc="-75" dirty="0">
                <a:solidFill>
                  <a:srgbClr val="110F15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110F15"/>
                </a:solidFill>
                <a:latin typeface="Arial"/>
                <a:cs typeface="Arial"/>
              </a:rPr>
              <a:t>Perceptron</a:t>
            </a:r>
            <a:endParaRPr sz="1400" dirty="0">
              <a:latin typeface="Arial"/>
              <a:cs typeface="Arial"/>
            </a:endParaRPr>
          </a:p>
          <a:p>
            <a:pPr marL="259079" marR="375285">
              <a:lnSpc>
                <a:spcPct val="136100"/>
              </a:lnSpc>
              <a:spcBef>
                <a:spcPts val="270"/>
              </a:spcBef>
            </a:pPr>
            <a:r>
              <a:rPr sz="1050" spc="50" dirty="0">
                <a:solidFill>
                  <a:srgbClr val="49423A"/>
                </a:solidFill>
                <a:latin typeface="Arial"/>
                <a:cs typeface="Arial"/>
              </a:rPr>
              <a:t>Marvin</a:t>
            </a:r>
            <a:r>
              <a:rPr sz="1050" spc="-4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lang="en-US" sz="1050" spc="200" dirty="0">
                <a:solidFill>
                  <a:srgbClr val="49423A"/>
                </a:solidFill>
                <a:latin typeface="Arial"/>
                <a:cs typeface="Arial"/>
              </a:rPr>
              <a:t>M</a:t>
            </a:r>
            <a:r>
              <a:rPr sz="1050" dirty="0" smtClean="0">
                <a:solidFill>
                  <a:srgbClr val="49423A"/>
                </a:solidFill>
                <a:latin typeface="Arial"/>
                <a:cs typeface="Arial"/>
              </a:rPr>
              <a:t>i</a:t>
            </a:r>
            <a:r>
              <a:rPr sz="1050" spc="10" dirty="0" smtClean="0">
                <a:solidFill>
                  <a:srgbClr val="49423A"/>
                </a:solidFill>
                <a:latin typeface="Arial"/>
                <a:cs typeface="Arial"/>
              </a:rPr>
              <a:t>nsky</a:t>
            </a:r>
            <a:r>
              <a:rPr sz="1050" spc="-40" dirty="0" smtClean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5B524B"/>
                </a:solidFill>
                <a:latin typeface="Arial"/>
                <a:cs typeface="Arial"/>
              </a:rPr>
              <a:t>and</a:t>
            </a:r>
            <a:r>
              <a:rPr sz="1050" spc="-3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9423A"/>
                </a:solidFill>
                <a:latin typeface="Arial"/>
                <a:cs typeface="Arial"/>
              </a:rPr>
              <a:t>Seymour</a:t>
            </a:r>
            <a:r>
              <a:rPr sz="1050" spc="9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Papert</a:t>
            </a:r>
            <a:r>
              <a:rPr sz="1050" spc="-5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showed</a:t>
            </a:r>
            <a:r>
              <a:rPr sz="1050" spc="1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9423A"/>
                </a:solidFill>
                <a:latin typeface="Arial"/>
                <a:cs typeface="Arial"/>
              </a:rPr>
              <a:t>the</a:t>
            </a:r>
            <a:r>
              <a:rPr sz="1050" spc="7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limitat</a:t>
            </a:r>
            <a:r>
              <a:rPr sz="1050" spc="-20" dirty="0">
                <a:solidFill>
                  <a:srgbClr val="5B524B"/>
                </a:solidFill>
                <a:latin typeface="Arial"/>
                <a:cs typeface="Arial"/>
              </a:rPr>
              <a:t>i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ons</a:t>
            </a:r>
            <a:r>
              <a:rPr sz="1050" spc="-4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of</a:t>
            </a:r>
            <a:r>
              <a:rPr sz="1050" spc="-5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sing</a:t>
            </a:r>
            <a:r>
              <a:rPr sz="1050" spc="-15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40" dirty="0">
                <a:solidFill>
                  <a:srgbClr val="5B524B"/>
                </a:solidFill>
                <a:latin typeface="Arial"/>
                <a:cs typeface="Arial"/>
              </a:rPr>
              <a:t>e</a:t>
            </a:r>
            <a:r>
              <a:rPr sz="1050" spc="45" dirty="0">
                <a:solidFill>
                  <a:srgbClr val="2B2118"/>
                </a:solidFill>
                <a:latin typeface="Arial"/>
                <a:cs typeface="Arial"/>
              </a:rPr>
              <a:t>-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ayer </a:t>
            </a:r>
            <a:r>
              <a:rPr sz="1050" spc="15" dirty="0">
                <a:solidFill>
                  <a:srgbClr val="49423A"/>
                </a:solidFill>
                <a:latin typeface="Arial"/>
                <a:cs typeface="Arial"/>
              </a:rPr>
              <a:t>Perceptrons</a:t>
            </a:r>
            <a:r>
              <a:rPr sz="1050" spc="-1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49423A"/>
                </a:solidFill>
                <a:latin typeface="Arial"/>
                <a:cs typeface="Arial"/>
              </a:rPr>
              <a:t>for</a:t>
            </a:r>
            <a:r>
              <a:rPr sz="1050" spc="-3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complex</a:t>
            </a: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5B524B"/>
                </a:solidFill>
                <a:latin typeface="Arial"/>
                <a:cs typeface="Arial"/>
              </a:rPr>
              <a:t>prob</a:t>
            </a:r>
            <a:r>
              <a:rPr sz="1050" spc="-4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-15" dirty="0">
                <a:solidFill>
                  <a:srgbClr val="5B524B"/>
                </a:solidFill>
                <a:latin typeface="Arial"/>
                <a:cs typeface="Arial"/>
              </a:rPr>
              <a:t>ems.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Clr>
                <a:srgbClr val="522ACF"/>
              </a:buClr>
              <a:buFont typeface="Arial"/>
              <a:buChar char="•"/>
              <a:tabLst>
                <a:tab pos="266700" algn="l"/>
              </a:tabLst>
            </a:pPr>
            <a:r>
              <a:rPr sz="1400" b="1" spc="-40" dirty="0">
                <a:solidFill>
                  <a:srgbClr val="110F15"/>
                </a:solidFill>
                <a:latin typeface="Arial"/>
                <a:cs typeface="Arial"/>
              </a:rPr>
              <a:t>1</a:t>
            </a:r>
            <a:r>
              <a:rPr sz="1400" b="1" spc="-25" dirty="0">
                <a:solidFill>
                  <a:srgbClr val="110F15"/>
                </a:solidFill>
                <a:latin typeface="Arial"/>
                <a:cs typeface="Arial"/>
              </a:rPr>
              <a:t>98</a:t>
            </a:r>
            <a:r>
              <a:rPr sz="1400" b="1" spc="-5" dirty="0">
                <a:solidFill>
                  <a:srgbClr val="110F15"/>
                </a:solidFill>
                <a:latin typeface="Arial"/>
                <a:cs typeface="Arial"/>
              </a:rPr>
              <a:t>6</a:t>
            </a:r>
            <a:r>
              <a:rPr sz="1400" b="1" spc="155" dirty="0">
                <a:solidFill>
                  <a:srgbClr val="49423A"/>
                </a:solidFill>
                <a:latin typeface="Arial"/>
                <a:cs typeface="Arial"/>
              </a:rPr>
              <a:t>:</a:t>
            </a:r>
            <a:r>
              <a:rPr sz="1400" b="1" spc="85" dirty="0">
                <a:solidFill>
                  <a:srgbClr val="110F15"/>
                </a:solidFill>
                <a:latin typeface="Arial"/>
                <a:cs typeface="Arial"/>
              </a:rPr>
              <a:t>M</a:t>
            </a:r>
            <a:r>
              <a:rPr sz="1400" b="1" spc="-45" dirty="0">
                <a:solidFill>
                  <a:srgbClr val="110F15"/>
                </a:solidFill>
                <a:latin typeface="Arial"/>
                <a:cs typeface="Arial"/>
              </a:rPr>
              <a:t>ulti-layer</a:t>
            </a:r>
            <a:r>
              <a:rPr sz="1400" b="1" spc="15" dirty="0">
                <a:solidFill>
                  <a:srgbClr val="110F15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110F15"/>
                </a:solidFill>
                <a:latin typeface="Arial"/>
                <a:cs typeface="Arial"/>
              </a:rPr>
              <a:t>Perceptron</a:t>
            </a:r>
            <a:endParaRPr sz="1400" dirty="0">
              <a:latin typeface="Arial"/>
              <a:cs typeface="Arial"/>
            </a:endParaRPr>
          </a:p>
          <a:p>
            <a:pPr marL="252095" marR="5080">
              <a:lnSpc>
                <a:spcPct val="136100"/>
              </a:lnSpc>
              <a:spcBef>
                <a:spcPts val="330"/>
              </a:spcBef>
            </a:pP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The</a:t>
            </a:r>
            <a:r>
              <a:rPr sz="1050" spc="-10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5B524B"/>
                </a:solidFill>
                <a:latin typeface="Arial"/>
                <a:cs typeface="Arial"/>
              </a:rPr>
              <a:t>deve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opment</a:t>
            </a:r>
            <a:r>
              <a:rPr sz="1050" spc="3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9423A"/>
                </a:solidFill>
                <a:latin typeface="Arial"/>
                <a:cs typeface="Arial"/>
              </a:rPr>
              <a:t>o</a:t>
            </a:r>
            <a:r>
              <a:rPr sz="1050" spc="10" dirty="0">
                <a:solidFill>
                  <a:srgbClr val="2B2118"/>
                </a:solidFill>
                <a:latin typeface="Arial"/>
                <a:cs typeface="Arial"/>
              </a:rPr>
              <a:t>f</a:t>
            </a:r>
            <a:r>
              <a:rPr sz="1050" spc="-30" dirty="0">
                <a:solidFill>
                  <a:srgbClr val="2B2118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24B"/>
                </a:solidFill>
                <a:latin typeface="Arial"/>
                <a:cs typeface="Arial"/>
              </a:rPr>
              <a:t>the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 m</a:t>
            </a:r>
            <a:r>
              <a:rPr sz="1050" spc="65" dirty="0">
                <a:solidFill>
                  <a:srgbClr val="5B524B"/>
                </a:solidFill>
                <a:latin typeface="Arial"/>
                <a:cs typeface="Arial"/>
              </a:rPr>
              <a:t>u</a:t>
            </a:r>
            <a:r>
              <a:rPr sz="1050" spc="-10" dirty="0">
                <a:solidFill>
                  <a:srgbClr val="110F15"/>
                </a:solidFill>
                <a:latin typeface="Arial"/>
                <a:cs typeface="Arial"/>
              </a:rPr>
              <a:t>l</a:t>
            </a:r>
            <a:r>
              <a:rPr sz="1050" spc="114" dirty="0">
                <a:solidFill>
                  <a:srgbClr val="5B524B"/>
                </a:solidFill>
                <a:latin typeface="Arial"/>
                <a:cs typeface="Arial"/>
              </a:rPr>
              <a:t>t</a:t>
            </a:r>
            <a:r>
              <a:rPr sz="1050" spc="90" dirty="0">
                <a:solidFill>
                  <a:srgbClr val="5B524B"/>
                </a:solidFill>
                <a:latin typeface="Arial"/>
                <a:cs typeface="Arial"/>
              </a:rPr>
              <a:t>i</a:t>
            </a:r>
            <a:r>
              <a:rPr sz="1050" spc="45" dirty="0">
                <a:solidFill>
                  <a:srgbClr val="2B2118"/>
                </a:solidFill>
                <a:latin typeface="Arial"/>
                <a:cs typeface="Arial"/>
              </a:rPr>
              <a:t>-</a:t>
            </a:r>
            <a:r>
              <a:rPr sz="1050" spc="-1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ayer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Percep</a:t>
            </a:r>
            <a:r>
              <a:rPr sz="1050" spc="105" dirty="0">
                <a:solidFill>
                  <a:srgbClr val="49423A"/>
                </a:solidFill>
                <a:latin typeface="Arial"/>
                <a:cs typeface="Arial"/>
              </a:rPr>
              <a:t>t</a:t>
            </a:r>
            <a:r>
              <a:rPr sz="1050" spc="45" dirty="0">
                <a:solidFill>
                  <a:srgbClr val="2B2118"/>
                </a:solidFill>
                <a:latin typeface="Arial"/>
                <a:cs typeface="Arial"/>
              </a:rPr>
              <a:t>r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on</a:t>
            </a:r>
            <a:r>
              <a:rPr sz="1050" spc="-10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80" dirty="0">
                <a:solidFill>
                  <a:srgbClr val="5B524B"/>
                </a:solidFill>
                <a:latin typeface="Arial"/>
                <a:cs typeface="Arial"/>
              </a:rPr>
              <a:t>with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backpropagation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5B524B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40" dirty="0">
                <a:solidFill>
                  <a:srgbClr val="5B524B"/>
                </a:solidFill>
                <a:latin typeface="Arial"/>
                <a:cs typeface="Arial"/>
              </a:rPr>
              <a:t>gorithm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5B524B"/>
                </a:solidFill>
                <a:latin typeface="Arial"/>
                <a:cs typeface="Arial"/>
              </a:rPr>
              <a:t>a</a:t>
            </a:r>
            <a:r>
              <a:rPr sz="1050" spc="45" dirty="0">
                <a:solidFill>
                  <a:srgbClr val="110F15"/>
                </a:solidFill>
                <a:latin typeface="Arial"/>
                <a:cs typeface="Arial"/>
              </a:rPr>
              <a:t>l</a:t>
            </a:r>
            <a:r>
              <a:rPr sz="1050" spc="-5" dirty="0">
                <a:solidFill>
                  <a:srgbClr val="110F15"/>
                </a:solidFill>
                <a:latin typeface="Arial"/>
                <a:cs typeface="Arial"/>
              </a:rPr>
              <a:t>l</a:t>
            </a:r>
            <a:r>
              <a:rPr sz="1050" spc="30" dirty="0">
                <a:solidFill>
                  <a:srgbClr val="49423A"/>
                </a:solidFill>
                <a:latin typeface="Arial"/>
                <a:cs typeface="Arial"/>
              </a:rPr>
              <a:t>owed</a:t>
            </a:r>
            <a:r>
              <a:rPr sz="1050" spc="-1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55" dirty="0">
                <a:solidFill>
                  <a:srgbClr val="49423A"/>
                </a:solidFill>
                <a:latin typeface="Arial"/>
                <a:cs typeface="Arial"/>
              </a:rPr>
              <a:t>tra</a:t>
            </a:r>
            <a:r>
              <a:rPr sz="1050" spc="65" dirty="0">
                <a:solidFill>
                  <a:srgbClr val="49423A"/>
                </a:solidFill>
                <a:latin typeface="Arial"/>
                <a:cs typeface="Arial"/>
              </a:rPr>
              <a:t>i</a:t>
            </a:r>
            <a:r>
              <a:rPr sz="1050" spc="90" dirty="0">
                <a:solidFill>
                  <a:srgbClr val="49423A"/>
                </a:solidFill>
                <a:latin typeface="Arial"/>
                <a:cs typeface="Arial"/>
              </a:rPr>
              <a:t>n</a:t>
            </a:r>
            <a:r>
              <a:rPr sz="1050" dirty="0">
                <a:solidFill>
                  <a:srgbClr val="49423A"/>
                </a:solidFill>
                <a:latin typeface="Arial"/>
                <a:cs typeface="Arial"/>
              </a:rPr>
              <a:t>i</a:t>
            </a:r>
            <a:r>
              <a:rPr sz="1050" spc="20" dirty="0">
                <a:solidFill>
                  <a:srgbClr val="49423A"/>
                </a:solidFill>
                <a:latin typeface="Arial"/>
                <a:cs typeface="Arial"/>
              </a:rPr>
              <a:t>ng</a:t>
            </a:r>
            <a:r>
              <a:rPr sz="1050" spc="-13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5B524B"/>
                </a:solidFill>
                <a:latin typeface="Arial"/>
                <a:cs typeface="Arial"/>
              </a:rPr>
              <a:t>deep</a:t>
            </a:r>
            <a:r>
              <a:rPr sz="1050" spc="-5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neural</a:t>
            </a:r>
            <a:r>
              <a:rPr sz="1050" spc="-4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networks.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9543"/>
            <a:ext cx="10043885" cy="1277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31771" y="2699658"/>
            <a:ext cx="2409371" cy="3512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42743" y="5384800"/>
            <a:ext cx="507999" cy="508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57" y="6680200"/>
            <a:ext cx="10051415" cy="0"/>
          </a:xfrm>
          <a:custGeom>
            <a:avLst/>
            <a:gdLst/>
            <a:ahLst/>
            <a:cxnLst/>
            <a:rect l="l" t="t" r="r" b="b"/>
            <a:pathLst>
              <a:path w="10051415">
                <a:moveTo>
                  <a:pt x="0" y="0"/>
                </a:moveTo>
                <a:lnTo>
                  <a:pt x="10051142" y="0"/>
                </a:lnTo>
              </a:path>
            </a:pathLst>
          </a:custGeom>
          <a:ln w="36285">
            <a:solidFill>
              <a:srgbClr val="D8CC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514" y="1074057"/>
            <a:ext cx="0" cy="5624830"/>
          </a:xfrm>
          <a:custGeom>
            <a:avLst/>
            <a:gdLst/>
            <a:ahLst/>
            <a:cxnLst/>
            <a:rect l="l" t="t" r="r" b="b"/>
            <a:pathLst>
              <a:path h="5624830">
                <a:moveTo>
                  <a:pt x="0" y="5624286"/>
                </a:moveTo>
                <a:lnTo>
                  <a:pt x="0" y="0"/>
                </a:lnTo>
              </a:path>
            </a:pathLst>
          </a:custGeom>
          <a:ln w="14514">
            <a:solidFill>
              <a:srgbClr val="1813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51143" y="2322285"/>
            <a:ext cx="0" cy="4376420"/>
          </a:xfrm>
          <a:custGeom>
            <a:avLst/>
            <a:gdLst/>
            <a:ahLst/>
            <a:cxnLst/>
            <a:rect l="l" t="t" r="r" b="b"/>
            <a:pathLst>
              <a:path h="4376420">
                <a:moveTo>
                  <a:pt x="0" y="4376058"/>
                </a:moveTo>
                <a:lnTo>
                  <a:pt x="0" y="0"/>
                </a:lnTo>
              </a:path>
            </a:pathLst>
          </a:custGeom>
          <a:ln w="14514">
            <a:solidFill>
              <a:srgbClr val="0C0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3014" y="3979797"/>
            <a:ext cx="2341880" cy="906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400" b="1" dirty="0">
                <a:solidFill>
                  <a:srgbClr val="131115"/>
                </a:solidFill>
                <a:latin typeface="Arial"/>
                <a:cs typeface="Arial"/>
              </a:rPr>
              <a:t>Wei</a:t>
            </a:r>
            <a:r>
              <a:rPr sz="1400" b="1" spc="-125" dirty="0">
                <a:solidFill>
                  <a:srgbClr val="131115"/>
                </a:solidFill>
                <a:latin typeface="Arial"/>
                <a:cs typeface="Arial"/>
              </a:rPr>
              <a:t>g</a:t>
            </a:r>
            <a:r>
              <a:rPr sz="1400" b="1" spc="-60" dirty="0">
                <a:solidFill>
                  <a:srgbClr val="131115"/>
                </a:solidFill>
                <a:latin typeface="Arial"/>
                <a:cs typeface="Arial"/>
              </a:rPr>
              <a:t>hts</a:t>
            </a:r>
            <a:endParaRPr sz="1400">
              <a:latin typeface="Arial"/>
              <a:cs typeface="Arial"/>
            </a:endParaRPr>
          </a:p>
          <a:p>
            <a:pPr marL="41275" marR="23495" indent="-29209" algn="r">
              <a:lnSpc>
                <a:spcPct val="136100"/>
              </a:lnSpc>
              <a:spcBef>
                <a:spcPts val="330"/>
              </a:spcBef>
            </a:pPr>
            <a:r>
              <a:rPr sz="1050" spc="-20" dirty="0">
                <a:solidFill>
                  <a:srgbClr val="493F38"/>
                </a:solidFill>
                <a:latin typeface="Arial"/>
                <a:cs typeface="Arial"/>
              </a:rPr>
              <a:t>Each</a:t>
            </a:r>
            <a:r>
              <a:rPr sz="1050" spc="-6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40" dirty="0">
                <a:solidFill>
                  <a:srgbClr val="595249"/>
                </a:solidFill>
                <a:latin typeface="Arial"/>
                <a:cs typeface="Arial"/>
              </a:rPr>
              <a:t>nput</a:t>
            </a:r>
            <a:r>
              <a:rPr sz="1050" spc="-6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595249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95249"/>
                </a:solidFill>
                <a:latin typeface="Arial"/>
                <a:cs typeface="Arial"/>
              </a:rPr>
              <a:t>associated</a:t>
            </a:r>
            <a:r>
              <a:rPr sz="1050" spc="-5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595249"/>
                </a:solidFill>
                <a:latin typeface="Arial"/>
                <a:cs typeface="Arial"/>
              </a:rPr>
              <a:t>with</a:t>
            </a:r>
            <a:r>
              <a:rPr sz="105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595249"/>
                </a:solidFill>
                <a:latin typeface="Arial"/>
                <a:cs typeface="Arial"/>
              </a:rPr>
              <a:t>a</a:t>
            </a:r>
            <a:r>
              <a:rPr sz="1050" spc="-7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we</a:t>
            </a:r>
            <a:r>
              <a:rPr sz="1050" spc="25" dirty="0">
                <a:solidFill>
                  <a:srgbClr val="595249"/>
                </a:solidFill>
                <a:latin typeface="Arial"/>
                <a:cs typeface="Arial"/>
              </a:rPr>
              <a:t>ight</a:t>
            </a:r>
            <a:r>
              <a:rPr sz="1050" spc="1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93F38"/>
                </a:solidFill>
                <a:latin typeface="Arial"/>
                <a:cs typeface="Arial"/>
              </a:rPr>
              <a:t>that</a:t>
            </a:r>
            <a:r>
              <a:rPr sz="1050" spc="-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det</a:t>
            </a:r>
            <a:r>
              <a:rPr sz="1050" spc="85" dirty="0">
                <a:solidFill>
                  <a:srgbClr val="595249"/>
                </a:solidFill>
                <a:latin typeface="Arial"/>
                <a:cs typeface="Arial"/>
              </a:rPr>
              <a:t>e</a:t>
            </a:r>
            <a:r>
              <a:rPr sz="1050" spc="100" dirty="0">
                <a:solidFill>
                  <a:srgbClr val="2F261C"/>
                </a:solidFill>
                <a:latin typeface="Arial"/>
                <a:cs typeface="Arial"/>
              </a:rPr>
              <a:t>r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m</a:t>
            </a:r>
            <a:r>
              <a:rPr sz="1050" spc="-10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050" spc="15" dirty="0">
                <a:solidFill>
                  <a:srgbClr val="595249"/>
                </a:solidFill>
                <a:latin typeface="Arial"/>
                <a:cs typeface="Arial"/>
              </a:rPr>
              <a:t>nes</a:t>
            </a:r>
            <a:r>
              <a:rPr sz="1050" spc="-9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95249"/>
                </a:solidFill>
                <a:latin typeface="Arial"/>
                <a:cs typeface="Arial"/>
              </a:rPr>
              <a:t>its</a:t>
            </a:r>
            <a:r>
              <a:rPr sz="1050" spc="-6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mportance</a:t>
            </a:r>
            <a:r>
              <a:rPr sz="1050" spc="-1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80" dirty="0">
                <a:solidFill>
                  <a:srgbClr val="595249"/>
                </a:solidFill>
                <a:latin typeface="Arial"/>
                <a:cs typeface="Arial"/>
              </a:rPr>
              <a:t>n</a:t>
            </a:r>
            <a:r>
              <a:rPr sz="1050" spc="-16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95249"/>
                </a:solidFill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  <a:p>
            <a:pPr marR="14604" algn="r">
              <a:lnSpc>
                <a:spcPct val="100000"/>
              </a:lnSpc>
              <a:spcBef>
                <a:spcPts val="509"/>
              </a:spcBef>
            </a:pPr>
            <a:r>
              <a:rPr sz="1050" spc="45" dirty="0">
                <a:solidFill>
                  <a:srgbClr val="595249"/>
                </a:solidFill>
                <a:latin typeface="Arial"/>
                <a:cs typeface="Arial"/>
              </a:rPr>
              <a:t>output</a:t>
            </a:r>
            <a:r>
              <a:rPr sz="1050" spc="-4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calcu</a:t>
            </a:r>
            <a:r>
              <a:rPr sz="1050" spc="45" dirty="0">
                <a:solidFill>
                  <a:srgbClr val="595249"/>
                </a:solidFill>
                <a:latin typeface="Arial"/>
                <a:cs typeface="Arial"/>
              </a:rPr>
              <a:t>lat</a:t>
            </a:r>
            <a:r>
              <a:rPr sz="1050" spc="4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dirty="0">
                <a:solidFill>
                  <a:srgbClr val="595249"/>
                </a:solidFill>
                <a:latin typeface="Arial"/>
                <a:cs typeface="Arial"/>
              </a:rPr>
              <a:t>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214" y="3961112"/>
            <a:ext cx="563245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6800" b="1" spc="-1814" dirty="0">
                <a:solidFill>
                  <a:srgbClr val="3B77E4"/>
                </a:solidFill>
                <a:latin typeface="Arial"/>
                <a:cs typeface="Arial"/>
              </a:rPr>
              <a:t>W</a:t>
            </a:r>
            <a:endParaRPr sz="6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1815" y="2943776"/>
            <a:ext cx="680085" cy="777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50" spc="994" dirty="0" smtClean="0">
                <a:solidFill>
                  <a:srgbClr val="5028D4"/>
                </a:solidFill>
                <a:latin typeface="Arial"/>
                <a:cs typeface="Arial"/>
              </a:rPr>
              <a:t>I</a:t>
            </a:r>
            <a:endParaRPr sz="50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9471" y="2891226"/>
            <a:ext cx="2467610" cy="68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1400" b="1" spc="5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400" b="1" spc="-80" dirty="0">
                <a:solidFill>
                  <a:srgbClr val="131115"/>
                </a:solidFill>
                <a:latin typeface="Arial"/>
                <a:cs typeface="Arial"/>
              </a:rPr>
              <a:t>nputs</a:t>
            </a:r>
            <a:endParaRPr sz="1400" dirty="0">
              <a:latin typeface="Arial"/>
              <a:cs typeface="Arial"/>
            </a:endParaRPr>
          </a:p>
          <a:p>
            <a:pPr marL="12700" marR="5080" indent="6985">
              <a:lnSpc>
                <a:spcPct val="136100"/>
              </a:lnSpc>
              <a:spcBef>
                <a:spcPts val="330"/>
              </a:spcBef>
            </a:pPr>
            <a:r>
              <a:rPr sz="1050" spc="-80" dirty="0">
                <a:solidFill>
                  <a:srgbClr val="2F261C"/>
                </a:solidFill>
                <a:latin typeface="Arial"/>
                <a:cs typeface="Arial"/>
              </a:rPr>
              <a:t>P</a:t>
            </a:r>
            <a:r>
              <a:rPr sz="1050" spc="30" dirty="0">
                <a:solidFill>
                  <a:srgbClr val="493F38"/>
                </a:solidFill>
                <a:latin typeface="Arial"/>
                <a:cs typeface="Arial"/>
              </a:rPr>
              <a:t>erceptron</a:t>
            </a:r>
            <a:r>
              <a:rPr sz="1050" spc="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2F261C"/>
                </a:solidFill>
                <a:latin typeface="Arial"/>
                <a:cs typeface="Arial"/>
              </a:rPr>
              <a:t>r</a:t>
            </a:r>
            <a:r>
              <a:rPr sz="1050" spc="10" dirty="0">
                <a:solidFill>
                  <a:srgbClr val="493F38"/>
                </a:solidFill>
                <a:latin typeface="Arial"/>
                <a:cs typeface="Arial"/>
              </a:rPr>
              <a:t>ece</a:t>
            </a:r>
            <a:r>
              <a:rPr sz="1050" spc="-25" dirty="0">
                <a:solidFill>
                  <a:srgbClr val="493F38"/>
                </a:solidFill>
                <a:latin typeface="Arial"/>
                <a:cs typeface="Arial"/>
              </a:rPr>
              <a:t>i</a:t>
            </a:r>
            <a:r>
              <a:rPr sz="1050" spc="-10" dirty="0">
                <a:solidFill>
                  <a:srgbClr val="493F38"/>
                </a:solidFill>
                <a:latin typeface="Arial"/>
                <a:cs typeface="Arial"/>
              </a:rPr>
              <a:t>ves</a:t>
            </a:r>
            <a:r>
              <a:rPr sz="1050" spc="30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inputs</a:t>
            </a:r>
            <a:r>
              <a:rPr sz="1050" spc="-12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2F261C"/>
                </a:solidFill>
                <a:latin typeface="Arial"/>
                <a:cs typeface="Arial"/>
              </a:rPr>
              <a:t>f</a:t>
            </a:r>
            <a:r>
              <a:rPr sz="1050" spc="145" dirty="0">
                <a:solidFill>
                  <a:srgbClr val="2F261C"/>
                </a:solidFill>
                <a:latin typeface="Arial"/>
                <a:cs typeface="Arial"/>
              </a:rPr>
              <a:t>r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om</a:t>
            </a:r>
            <a:r>
              <a:rPr sz="1050" spc="-2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93F38"/>
                </a:solidFill>
                <a:latin typeface="Arial"/>
                <a:cs typeface="Arial"/>
              </a:rPr>
              <a:t>the</a:t>
            </a:r>
            <a:r>
              <a:rPr sz="1050" spc="20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93F38"/>
                </a:solidFill>
                <a:latin typeface="Arial"/>
                <a:cs typeface="Arial"/>
              </a:rPr>
              <a:t>external</a:t>
            </a:r>
            <a:r>
              <a:rPr sz="1050" spc="-60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93F38"/>
                </a:solidFill>
                <a:latin typeface="Arial"/>
                <a:cs typeface="Arial"/>
              </a:rPr>
              <a:t>environment</a:t>
            </a:r>
            <a:r>
              <a:rPr sz="1050" spc="-20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95" dirty="0">
                <a:solidFill>
                  <a:srgbClr val="493F38"/>
                </a:solidFill>
                <a:latin typeface="Arial"/>
                <a:cs typeface="Arial"/>
              </a:rPr>
              <a:t>o</a:t>
            </a:r>
            <a:r>
              <a:rPr sz="1050" spc="45" dirty="0">
                <a:solidFill>
                  <a:srgbClr val="2F261C"/>
                </a:solidFill>
                <a:latin typeface="Arial"/>
                <a:cs typeface="Arial"/>
              </a:rPr>
              <a:t>r</a:t>
            </a:r>
            <a:r>
              <a:rPr sz="1050" spc="-65" dirty="0">
                <a:solidFill>
                  <a:srgbClr val="2F261C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other</a:t>
            </a:r>
            <a:r>
              <a:rPr sz="1050" spc="1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595249"/>
                </a:solidFill>
                <a:latin typeface="Arial"/>
                <a:cs typeface="Arial"/>
              </a:rPr>
              <a:t>neuron</a:t>
            </a:r>
            <a:r>
              <a:rPr sz="1050" spc="40" dirty="0">
                <a:solidFill>
                  <a:srgbClr val="595249"/>
                </a:solidFill>
                <a:latin typeface="Arial"/>
                <a:cs typeface="Arial"/>
              </a:rPr>
              <a:t>s</a:t>
            </a:r>
            <a:r>
              <a:rPr sz="1050" spc="15" dirty="0">
                <a:solidFill>
                  <a:srgbClr val="2F261C"/>
                </a:solidFill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12214" y="5307854"/>
            <a:ext cx="2317115" cy="673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">
              <a:lnSpc>
                <a:spcPct val="100000"/>
              </a:lnSpc>
            </a:pPr>
            <a:r>
              <a:rPr sz="1400" b="1" spc="-75" dirty="0">
                <a:solidFill>
                  <a:srgbClr val="131115"/>
                </a:solidFill>
                <a:latin typeface="Arial"/>
                <a:cs typeface="Arial"/>
              </a:rPr>
              <a:t>B</a:t>
            </a:r>
            <a:r>
              <a:rPr sz="1400" b="1" spc="-140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400" b="1" spc="-120" dirty="0">
                <a:solidFill>
                  <a:srgbClr val="131115"/>
                </a:solidFill>
                <a:latin typeface="Arial"/>
                <a:cs typeface="Arial"/>
              </a:rPr>
              <a:t>as</a:t>
            </a:r>
            <a:endParaRPr sz="1400">
              <a:latin typeface="Arial"/>
              <a:cs typeface="Arial"/>
            </a:endParaRPr>
          </a:p>
          <a:p>
            <a:pPr marL="12700" marR="5080" indent="13970">
              <a:lnSpc>
                <a:spcPct val="136100"/>
              </a:lnSpc>
              <a:spcBef>
                <a:spcPts val="270"/>
              </a:spcBef>
            </a:pPr>
            <a:r>
              <a:rPr sz="1050" spc="40" dirty="0">
                <a:solidFill>
                  <a:srgbClr val="493F38"/>
                </a:solidFill>
                <a:latin typeface="Arial"/>
                <a:cs typeface="Arial"/>
              </a:rPr>
              <a:t>B</a:t>
            </a:r>
            <a:r>
              <a:rPr sz="1050" spc="-20" dirty="0">
                <a:solidFill>
                  <a:srgbClr val="493F38"/>
                </a:solidFill>
                <a:latin typeface="Arial"/>
                <a:cs typeface="Arial"/>
              </a:rPr>
              <a:t>i</a:t>
            </a:r>
            <a:r>
              <a:rPr sz="1050" spc="-45" dirty="0">
                <a:solidFill>
                  <a:srgbClr val="493F38"/>
                </a:solidFill>
                <a:latin typeface="Arial"/>
                <a:cs typeface="Arial"/>
              </a:rPr>
              <a:t>as</a:t>
            </a:r>
            <a:r>
              <a:rPr sz="1050" spc="-5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595249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93F38"/>
                </a:solidFill>
                <a:latin typeface="Arial"/>
                <a:cs typeface="Arial"/>
              </a:rPr>
              <a:t>an</a:t>
            </a:r>
            <a:r>
              <a:rPr sz="1050" spc="-100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95249"/>
                </a:solidFill>
                <a:latin typeface="Arial"/>
                <a:cs typeface="Arial"/>
              </a:rPr>
              <a:t>ad</a:t>
            </a:r>
            <a:r>
              <a:rPr sz="1050" spc="95" dirty="0">
                <a:solidFill>
                  <a:srgbClr val="595249"/>
                </a:solidFill>
                <a:latin typeface="Arial"/>
                <a:cs typeface="Arial"/>
              </a:rPr>
              <a:t>d</a:t>
            </a:r>
            <a:r>
              <a:rPr sz="1050" spc="-10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050" spc="114" dirty="0">
                <a:solidFill>
                  <a:srgbClr val="595249"/>
                </a:solidFill>
                <a:latin typeface="Arial"/>
                <a:cs typeface="Arial"/>
              </a:rPr>
              <a:t>t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onal</a:t>
            </a:r>
            <a:r>
              <a:rPr sz="1050" spc="-3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40" dirty="0">
                <a:solidFill>
                  <a:srgbClr val="595249"/>
                </a:solidFill>
                <a:latin typeface="Arial"/>
                <a:cs typeface="Arial"/>
              </a:rPr>
              <a:t>nput</a:t>
            </a:r>
            <a:r>
              <a:rPr sz="1050" spc="-6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150" dirty="0">
                <a:solidFill>
                  <a:srgbClr val="595249"/>
                </a:solidFill>
                <a:latin typeface="Arial"/>
                <a:cs typeface="Arial"/>
              </a:rPr>
              <a:t>w</a:t>
            </a:r>
            <a:r>
              <a:rPr sz="1050" spc="-10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050" spc="90" dirty="0">
                <a:solidFill>
                  <a:srgbClr val="595249"/>
                </a:solidFill>
                <a:latin typeface="Arial"/>
                <a:cs typeface="Arial"/>
              </a:rPr>
              <a:t>th</a:t>
            </a:r>
            <a:r>
              <a:rPr sz="1050" spc="-10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493F38"/>
                </a:solidFill>
                <a:latin typeface="Arial"/>
                <a:cs typeface="Arial"/>
              </a:rPr>
              <a:t>a</a:t>
            </a:r>
            <a:r>
              <a:rPr sz="1050" spc="-70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95249"/>
                </a:solidFill>
                <a:latin typeface="Arial"/>
                <a:cs typeface="Arial"/>
              </a:rPr>
              <a:t>fixed</a:t>
            </a:r>
            <a:r>
              <a:rPr sz="1050" spc="1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595249"/>
                </a:solidFill>
                <a:latin typeface="Arial"/>
                <a:cs typeface="Arial"/>
              </a:rPr>
              <a:t>w</a:t>
            </a:r>
            <a:r>
              <a:rPr sz="1050" spc="130" dirty="0">
                <a:solidFill>
                  <a:srgbClr val="595249"/>
                </a:solidFill>
                <a:latin typeface="Arial"/>
                <a:cs typeface="Arial"/>
              </a:rPr>
              <a:t>e</a:t>
            </a:r>
            <a:r>
              <a:rPr sz="1050" spc="-10" dirty="0">
                <a:solidFill>
                  <a:srgbClr val="131115"/>
                </a:solidFill>
                <a:latin typeface="Arial"/>
                <a:cs typeface="Arial"/>
              </a:rPr>
              <a:t>i</a:t>
            </a:r>
            <a:r>
              <a:rPr sz="1050" spc="25" dirty="0">
                <a:solidFill>
                  <a:srgbClr val="493F38"/>
                </a:solidFill>
                <a:latin typeface="Arial"/>
                <a:cs typeface="Arial"/>
              </a:rPr>
              <a:t>ght</a:t>
            </a:r>
            <a:r>
              <a:rPr sz="1050" spc="-2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93F38"/>
                </a:solidFill>
                <a:latin typeface="Arial"/>
                <a:cs typeface="Arial"/>
              </a:rPr>
              <a:t>that</a:t>
            </a:r>
            <a:r>
              <a:rPr sz="1050" spc="-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595249"/>
                </a:solidFill>
                <a:latin typeface="Arial"/>
                <a:cs typeface="Arial"/>
              </a:rPr>
              <a:t>he</a:t>
            </a:r>
            <a:r>
              <a:rPr sz="1050" dirty="0">
                <a:solidFill>
                  <a:srgbClr val="595249"/>
                </a:solidFill>
                <a:latin typeface="Arial"/>
                <a:cs typeface="Arial"/>
              </a:rPr>
              <a:t>l</a:t>
            </a:r>
            <a:r>
              <a:rPr sz="1050" spc="5" dirty="0">
                <a:solidFill>
                  <a:srgbClr val="595249"/>
                </a:solidFill>
                <a:latin typeface="Arial"/>
                <a:cs typeface="Arial"/>
              </a:rPr>
              <a:t>ps</a:t>
            </a:r>
            <a:r>
              <a:rPr sz="1050" spc="-10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493F38"/>
                </a:solidFill>
                <a:latin typeface="Arial"/>
                <a:cs typeface="Arial"/>
              </a:rPr>
              <a:t>adjust</a:t>
            </a:r>
            <a:r>
              <a:rPr sz="1050" spc="-5" dirty="0">
                <a:solidFill>
                  <a:srgbClr val="493F38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95249"/>
                </a:solidFill>
                <a:latin typeface="Arial"/>
                <a:cs typeface="Arial"/>
              </a:rPr>
              <a:t>the</a:t>
            </a:r>
            <a:r>
              <a:rPr sz="1050" spc="-4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95249"/>
                </a:solidFill>
                <a:latin typeface="Arial"/>
                <a:cs typeface="Arial"/>
              </a:rPr>
              <a:t>output.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5657" y="2830285"/>
            <a:ext cx="3164114" cy="304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077685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21771">
            <a:solidFill>
              <a:srgbClr val="282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87456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36285">
            <a:solidFill>
              <a:srgbClr val="DBCC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8" y="1066800"/>
            <a:ext cx="0" cy="5638800"/>
          </a:xfrm>
          <a:custGeom>
            <a:avLst/>
            <a:gdLst/>
            <a:ahLst/>
            <a:cxnLst/>
            <a:rect l="l" t="t" r="r" b="b"/>
            <a:pathLst>
              <a:path h="5638800">
                <a:moveTo>
                  <a:pt x="0" y="5638800"/>
                </a:moveTo>
                <a:lnTo>
                  <a:pt x="0" y="0"/>
                </a:lnTo>
              </a:path>
            </a:pathLst>
          </a:custGeom>
          <a:ln w="7257">
            <a:solidFill>
              <a:srgbClr val="A89C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51143" y="1066800"/>
            <a:ext cx="0" cy="5638800"/>
          </a:xfrm>
          <a:custGeom>
            <a:avLst/>
            <a:gdLst/>
            <a:ahLst/>
            <a:cxnLst/>
            <a:rect l="l" t="t" r="r" b="b"/>
            <a:pathLst>
              <a:path h="5638800">
                <a:moveTo>
                  <a:pt x="0" y="5638800"/>
                </a:moveTo>
                <a:lnTo>
                  <a:pt x="0" y="0"/>
                </a:lnTo>
              </a:path>
            </a:pathLst>
          </a:custGeom>
          <a:ln w="14514">
            <a:solidFill>
              <a:srgbClr val="0C0F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ts val="2735"/>
              </a:lnSpc>
            </a:pPr>
            <a:r>
              <a:rPr spc="85" dirty="0">
                <a:solidFill>
                  <a:srgbClr val="0F0F16"/>
                </a:solidFill>
              </a:rPr>
              <a:t>W</a:t>
            </a:r>
            <a:r>
              <a:rPr spc="135" dirty="0">
                <a:solidFill>
                  <a:srgbClr val="0F0F16"/>
                </a:solidFill>
              </a:rPr>
              <a:t>O</a:t>
            </a:r>
            <a:r>
              <a:rPr spc="-120" dirty="0">
                <a:solidFill>
                  <a:srgbClr val="0F0F16"/>
                </a:solidFill>
              </a:rPr>
              <a:t>RK</a:t>
            </a:r>
            <a:r>
              <a:rPr spc="-55" dirty="0">
                <a:solidFill>
                  <a:srgbClr val="0F0F16"/>
                </a:solidFill>
              </a:rPr>
              <a:t>I</a:t>
            </a:r>
            <a:r>
              <a:rPr spc="-65" dirty="0">
                <a:solidFill>
                  <a:srgbClr val="0F0F16"/>
                </a:solidFill>
              </a:rPr>
              <a:t>N</a:t>
            </a:r>
            <a:r>
              <a:rPr spc="-180" dirty="0">
                <a:solidFill>
                  <a:srgbClr val="0F0F16"/>
                </a:solidFill>
              </a:rPr>
              <a:t>G</a:t>
            </a:r>
            <a:r>
              <a:rPr spc="-210" dirty="0">
                <a:solidFill>
                  <a:srgbClr val="0F0F16"/>
                </a:solidFill>
              </a:rPr>
              <a:t> </a:t>
            </a:r>
            <a:r>
              <a:rPr spc="-180" dirty="0">
                <a:solidFill>
                  <a:srgbClr val="0F0F16"/>
                </a:solidFill>
              </a:rPr>
              <a:t>P</a:t>
            </a:r>
            <a:r>
              <a:rPr spc="-25" dirty="0">
                <a:solidFill>
                  <a:srgbClr val="0F0F16"/>
                </a:solidFill>
              </a:rPr>
              <a:t>RI</a:t>
            </a:r>
            <a:r>
              <a:rPr spc="-170" dirty="0">
                <a:solidFill>
                  <a:srgbClr val="0F0F16"/>
                </a:solidFill>
              </a:rPr>
              <a:t>N</a:t>
            </a:r>
            <a:r>
              <a:rPr spc="-85" dirty="0">
                <a:solidFill>
                  <a:srgbClr val="0F0F16"/>
                </a:solidFill>
              </a:rPr>
              <a:t>C</a:t>
            </a:r>
            <a:r>
              <a:rPr spc="-15" dirty="0">
                <a:solidFill>
                  <a:srgbClr val="0F0F16"/>
                </a:solidFill>
              </a:rPr>
              <a:t>I</a:t>
            </a:r>
            <a:r>
              <a:rPr spc="-125" dirty="0">
                <a:solidFill>
                  <a:srgbClr val="0F0F16"/>
                </a:solidFill>
              </a:rPr>
              <a:t>P</a:t>
            </a:r>
            <a:r>
              <a:rPr spc="-310" dirty="0">
                <a:solidFill>
                  <a:srgbClr val="0F0F16"/>
                </a:solidFill>
              </a:rPr>
              <a:t>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0785" y="2080568"/>
            <a:ext cx="1579880" cy="14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10" dirty="0">
                <a:solidFill>
                  <a:srgbClr val="837E7E"/>
                </a:solidFill>
                <a:latin typeface="Arial"/>
                <a:cs typeface="Arial"/>
              </a:rPr>
              <a:t>Process</a:t>
            </a:r>
            <a:r>
              <a:rPr sz="1150" spc="35" dirty="0">
                <a:solidFill>
                  <a:srgbClr val="837E7E"/>
                </a:solidFill>
                <a:latin typeface="Arial"/>
                <a:cs typeface="Arial"/>
              </a:rPr>
              <a:t>i</a:t>
            </a:r>
            <a:r>
              <a:rPr sz="1150" spc="60" dirty="0">
                <a:solidFill>
                  <a:srgbClr val="837E7E"/>
                </a:solidFill>
                <a:latin typeface="Arial"/>
                <a:cs typeface="Arial"/>
              </a:rPr>
              <a:t>n</a:t>
            </a:r>
            <a:r>
              <a:rPr sz="1150" spc="195" dirty="0">
                <a:solidFill>
                  <a:srgbClr val="837E7E"/>
                </a:solidFill>
                <a:latin typeface="Arial"/>
                <a:cs typeface="Arial"/>
              </a:rPr>
              <a:t>g</a:t>
            </a:r>
            <a:r>
              <a:rPr sz="1150" spc="15" dirty="0">
                <a:solidFill>
                  <a:srgbClr val="837E7E"/>
                </a:solidFill>
                <a:latin typeface="Arial"/>
                <a:cs typeface="Arial"/>
              </a:rPr>
              <a:t>and</a:t>
            </a:r>
            <a:r>
              <a:rPr sz="1150" spc="-70" dirty="0">
                <a:solidFill>
                  <a:srgbClr val="837E7E"/>
                </a:solidFill>
                <a:latin typeface="Arial"/>
                <a:cs typeface="Arial"/>
              </a:rPr>
              <a:t> </a:t>
            </a:r>
            <a:r>
              <a:rPr sz="1150" spc="65" dirty="0">
                <a:solidFill>
                  <a:srgbClr val="837E7E"/>
                </a:solidFill>
                <a:latin typeface="Arial"/>
                <a:cs typeface="Arial"/>
              </a:rPr>
              <a:t>Output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86728" y="2854940"/>
            <a:ext cx="4538345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F0F16"/>
                </a:solidFill>
                <a:latin typeface="Arial"/>
                <a:cs typeface="Arial"/>
              </a:rPr>
              <a:t>We</a:t>
            </a:r>
            <a:r>
              <a:rPr sz="1400" b="1" spc="-55" dirty="0">
                <a:solidFill>
                  <a:srgbClr val="0F0F16"/>
                </a:solidFill>
                <a:latin typeface="Arial"/>
                <a:cs typeface="Arial"/>
              </a:rPr>
              <a:t>i</a:t>
            </a:r>
            <a:r>
              <a:rPr sz="1400" b="1" spc="-65" dirty="0">
                <a:solidFill>
                  <a:srgbClr val="0F0F16"/>
                </a:solidFill>
                <a:latin typeface="Arial"/>
                <a:cs typeface="Arial"/>
              </a:rPr>
              <a:t>g</a:t>
            </a:r>
            <a:r>
              <a:rPr sz="1400" b="1" spc="-45" dirty="0">
                <a:solidFill>
                  <a:srgbClr val="0F0F16"/>
                </a:solidFill>
                <a:latin typeface="Arial"/>
                <a:cs typeface="Arial"/>
              </a:rPr>
              <a:t>hted</a:t>
            </a:r>
            <a:r>
              <a:rPr sz="1400" b="1" spc="-170" dirty="0">
                <a:solidFill>
                  <a:srgbClr val="0F0F16"/>
                </a:solidFill>
                <a:latin typeface="Arial"/>
                <a:cs typeface="Arial"/>
              </a:rPr>
              <a:t> </a:t>
            </a:r>
            <a:r>
              <a:rPr sz="1400" b="1" spc="-145" dirty="0">
                <a:solidFill>
                  <a:srgbClr val="0F0F16"/>
                </a:solidFill>
                <a:latin typeface="Arial"/>
                <a:cs typeface="Arial"/>
              </a:rPr>
              <a:t>Sum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050" spc="25" dirty="0">
                <a:solidFill>
                  <a:srgbClr val="28211A"/>
                </a:solidFill>
                <a:latin typeface="Arial"/>
                <a:cs typeface="Arial"/>
              </a:rPr>
              <a:t>T</a:t>
            </a:r>
            <a:r>
              <a:rPr sz="1050" spc="5" dirty="0">
                <a:solidFill>
                  <a:srgbClr val="595249"/>
                </a:solidFill>
                <a:latin typeface="Arial"/>
                <a:cs typeface="Arial"/>
              </a:rPr>
              <a:t>he</a:t>
            </a:r>
            <a:r>
              <a:rPr sz="1050" spc="-4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nputs</a:t>
            </a:r>
            <a:r>
              <a:rPr sz="1050" spc="-2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595249"/>
                </a:solidFill>
                <a:latin typeface="Arial"/>
                <a:cs typeface="Arial"/>
              </a:rPr>
              <a:t>are</a:t>
            </a:r>
            <a:r>
              <a:rPr sz="1050" spc="-7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595249"/>
                </a:solidFill>
                <a:latin typeface="Arial"/>
                <a:cs typeface="Arial"/>
              </a:rPr>
              <a:t>mul</a:t>
            </a:r>
            <a:r>
              <a:rPr sz="1050" spc="95" dirty="0">
                <a:solidFill>
                  <a:srgbClr val="595249"/>
                </a:solidFill>
                <a:latin typeface="Arial"/>
                <a:cs typeface="Arial"/>
              </a:rPr>
              <a:t>t</a:t>
            </a:r>
            <a:r>
              <a:rPr sz="1050" spc="-10" dirty="0">
                <a:solidFill>
                  <a:srgbClr val="0F0F16"/>
                </a:solidFill>
                <a:latin typeface="Arial"/>
                <a:cs typeface="Arial"/>
              </a:rPr>
              <a:t>i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plied</a:t>
            </a:r>
            <a:r>
              <a:rPr sz="1050" spc="-6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150" spc="-15" dirty="0">
                <a:solidFill>
                  <a:srgbClr val="595249"/>
                </a:solidFill>
                <a:latin typeface="Times New Roman"/>
                <a:cs typeface="Times New Roman"/>
              </a:rPr>
              <a:t>by</a:t>
            </a:r>
            <a:r>
              <a:rPr sz="1150" spc="-45" dirty="0">
                <a:solidFill>
                  <a:srgbClr val="595249"/>
                </a:solidFill>
                <a:latin typeface="Times New Roman"/>
                <a:cs typeface="Times New Roman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the</a:t>
            </a:r>
            <a:r>
              <a:rPr sz="1050" spc="7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45" dirty="0">
                <a:solidFill>
                  <a:srgbClr val="28211A"/>
                </a:solidFill>
                <a:latin typeface="Arial"/>
                <a:cs typeface="Arial"/>
              </a:rPr>
              <a:t>r</a:t>
            </a:r>
            <a:r>
              <a:rPr sz="1050" spc="-65" dirty="0">
                <a:solidFill>
                  <a:srgbClr val="28211A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595249"/>
                </a:solidFill>
                <a:latin typeface="Arial"/>
                <a:cs typeface="Arial"/>
              </a:rPr>
              <a:t>corresponding</a:t>
            </a:r>
            <a:r>
              <a:rPr sz="1050" spc="-2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80" dirty="0">
                <a:solidFill>
                  <a:srgbClr val="595249"/>
                </a:solidFill>
                <a:latin typeface="Arial"/>
                <a:cs typeface="Arial"/>
              </a:rPr>
              <a:t>we</a:t>
            </a:r>
            <a:r>
              <a:rPr sz="1050" spc="3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ghts</a:t>
            </a:r>
            <a:r>
              <a:rPr sz="1050" spc="-5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94138"/>
                </a:solidFill>
                <a:latin typeface="Arial"/>
                <a:cs typeface="Arial"/>
              </a:rPr>
              <a:t>and</a:t>
            </a:r>
            <a:r>
              <a:rPr sz="1050" spc="-100" dirty="0">
                <a:solidFill>
                  <a:srgbClr val="49413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595249"/>
                </a:solidFill>
                <a:latin typeface="Arial"/>
                <a:cs typeface="Arial"/>
              </a:rPr>
              <a:t>summed</a:t>
            </a:r>
            <a:r>
              <a:rPr sz="105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494138"/>
                </a:solidFill>
                <a:latin typeface="Arial"/>
                <a:cs typeface="Arial"/>
              </a:rPr>
              <a:t>u</a:t>
            </a:r>
            <a:r>
              <a:rPr sz="1050" spc="35" dirty="0">
                <a:solidFill>
                  <a:srgbClr val="494138"/>
                </a:solidFill>
                <a:latin typeface="Arial"/>
                <a:cs typeface="Arial"/>
              </a:rPr>
              <a:t>p.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6728" y="5067990"/>
            <a:ext cx="5035550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35" dirty="0">
                <a:solidFill>
                  <a:srgbClr val="0F0F16"/>
                </a:solidFill>
                <a:latin typeface="Arial"/>
                <a:cs typeface="Arial"/>
              </a:rPr>
              <a:t>Activat</a:t>
            </a:r>
            <a:r>
              <a:rPr sz="1400" b="1" spc="40" dirty="0">
                <a:solidFill>
                  <a:srgbClr val="0F0F16"/>
                </a:solidFill>
                <a:latin typeface="Arial"/>
                <a:cs typeface="Arial"/>
              </a:rPr>
              <a:t>i</a:t>
            </a:r>
            <a:r>
              <a:rPr sz="1400" b="1" spc="-70" dirty="0">
                <a:solidFill>
                  <a:srgbClr val="0F0F16"/>
                </a:solidFill>
                <a:latin typeface="Arial"/>
                <a:cs typeface="Arial"/>
              </a:rPr>
              <a:t>on</a:t>
            </a:r>
            <a:r>
              <a:rPr sz="1400" b="1" spc="-150" dirty="0">
                <a:solidFill>
                  <a:srgbClr val="0F0F16"/>
                </a:solidFill>
                <a:latin typeface="Arial"/>
                <a:cs typeface="Arial"/>
              </a:rPr>
              <a:t> </a:t>
            </a:r>
            <a:r>
              <a:rPr sz="1400" b="1" spc="-185" dirty="0">
                <a:solidFill>
                  <a:srgbClr val="0F0F16"/>
                </a:solidFill>
                <a:latin typeface="Arial"/>
                <a:cs typeface="Arial"/>
              </a:rPr>
              <a:t>F</a:t>
            </a:r>
            <a:r>
              <a:rPr sz="1400" b="1" spc="-55" dirty="0">
                <a:solidFill>
                  <a:srgbClr val="0F0F16"/>
                </a:solidFill>
                <a:latin typeface="Arial"/>
                <a:cs typeface="Arial"/>
              </a:rPr>
              <a:t>unct</a:t>
            </a:r>
            <a:r>
              <a:rPr sz="1400" b="1" spc="-85" dirty="0">
                <a:solidFill>
                  <a:srgbClr val="0F0F16"/>
                </a:solidFill>
                <a:latin typeface="Arial"/>
                <a:cs typeface="Arial"/>
              </a:rPr>
              <a:t>i</a:t>
            </a:r>
            <a:r>
              <a:rPr sz="1400" b="1" spc="-70" dirty="0">
                <a:solidFill>
                  <a:srgbClr val="0F0F16"/>
                </a:solidFill>
                <a:latin typeface="Arial"/>
                <a:cs typeface="Arial"/>
              </a:rPr>
              <a:t>on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050" spc="25" dirty="0">
                <a:solidFill>
                  <a:srgbClr val="28211A"/>
                </a:solidFill>
                <a:latin typeface="Arial"/>
                <a:cs typeface="Arial"/>
              </a:rPr>
              <a:t>T</a:t>
            </a:r>
            <a:r>
              <a:rPr sz="1050" spc="5" dirty="0">
                <a:solidFill>
                  <a:srgbClr val="595249"/>
                </a:solidFill>
                <a:latin typeface="Arial"/>
                <a:cs typeface="Arial"/>
              </a:rPr>
              <a:t>he</a:t>
            </a:r>
            <a:r>
              <a:rPr sz="1050" spc="-10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we</a:t>
            </a:r>
            <a:r>
              <a:rPr sz="1050" spc="25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30" dirty="0">
                <a:solidFill>
                  <a:srgbClr val="595249"/>
                </a:solidFill>
                <a:latin typeface="Arial"/>
                <a:cs typeface="Arial"/>
              </a:rPr>
              <a:t>ghted</a:t>
            </a:r>
            <a:r>
              <a:rPr sz="1050" spc="-7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595249"/>
                </a:solidFill>
                <a:latin typeface="Arial"/>
                <a:cs typeface="Arial"/>
              </a:rPr>
              <a:t>sum</a:t>
            </a:r>
            <a:r>
              <a:rPr sz="1050" spc="-1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595249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94138"/>
                </a:solidFill>
                <a:latin typeface="Arial"/>
                <a:cs typeface="Arial"/>
              </a:rPr>
              <a:t>passed</a:t>
            </a:r>
            <a:r>
              <a:rPr sz="1050" spc="-105" dirty="0">
                <a:solidFill>
                  <a:srgbClr val="494138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through</a:t>
            </a:r>
            <a:r>
              <a:rPr sz="1050" spc="-2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an</a:t>
            </a:r>
            <a:r>
              <a:rPr sz="1050" spc="-105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94138"/>
                </a:solidFill>
                <a:latin typeface="Arial"/>
                <a:cs typeface="Arial"/>
              </a:rPr>
              <a:t>ac</a:t>
            </a:r>
            <a:r>
              <a:rPr sz="1050" spc="90" dirty="0">
                <a:solidFill>
                  <a:srgbClr val="494138"/>
                </a:solidFill>
                <a:latin typeface="Arial"/>
                <a:cs typeface="Arial"/>
              </a:rPr>
              <a:t>t</a:t>
            </a:r>
            <a:r>
              <a:rPr sz="1050" spc="-10" dirty="0">
                <a:solidFill>
                  <a:srgbClr val="0F0F16"/>
                </a:solidFill>
                <a:latin typeface="Arial"/>
                <a:cs typeface="Arial"/>
              </a:rPr>
              <a:t>i</a:t>
            </a:r>
            <a:r>
              <a:rPr sz="1050" spc="50" dirty="0">
                <a:solidFill>
                  <a:srgbClr val="595249"/>
                </a:solidFill>
                <a:latin typeface="Arial"/>
                <a:cs typeface="Arial"/>
              </a:rPr>
              <a:t>vat</a:t>
            </a:r>
            <a:r>
              <a:rPr sz="1050" spc="20" dirty="0">
                <a:solidFill>
                  <a:srgbClr val="595249"/>
                </a:solidFill>
                <a:latin typeface="Arial"/>
                <a:cs typeface="Arial"/>
              </a:rPr>
              <a:t>i</a:t>
            </a:r>
            <a:r>
              <a:rPr sz="1050" spc="35" dirty="0">
                <a:solidFill>
                  <a:srgbClr val="595249"/>
                </a:solidFill>
                <a:latin typeface="Arial"/>
                <a:cs typeface="Arial"/>
              </a:rPr>
              <a:t>on</a:t>
            </a:r>
            <a:r>
              <a:rPr sz="1050" spc="1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100" dirty="0">
                <a:solidFill>
                  <a:srgbClr val="28211A"/>
                </a:solidFill>
                <a:latin typeface="Arial"/>
                <a:cs typeface="Arial"/>
              </a:rPr>
              <a:t>f</a:t>
            </a:r>
            <a:r>
              <a:rPr sz="1050" spc="-15" dirty="0">
                <a:solidFill>
                  <a:srgbClr val="494138"/>
                </a:solidFill>
                <a:latin typeface="Arial"/>
                <a:cs typeface="Arial"/>
              </a:rPr>
              <a:t>u</a:t>
            </a:r>
            <a:r>
              <a:rPr sz="1050" spc="70" dirty="0">
                <a:solidFill>
                  <a:srgbClr val="494138"/>
                </a:solidFill>
                <a:latin typeface="Arial"/>
                <a:cs typeface="Arial"/>
              </a:rPr>
              <a:t>nct</a:t>
            </a:r>
            <a:r>
              <a:rPr sz="1050" spc="-50" dirty="0">
                <a:solidFill>
                  <a:srgbClr val="494138"/>
                </a:solidFill>
                <a:latin typeface="Arial"/>
                <a:cs typeface="Arial"/>
              </a:rPr>
              <a:t>i</a:t>
            </a:r>
            <a:r>
              <a:rPr sz="1050" spc="35" dirty="0">
                <a:solidFill>
                  <a:srgbClr val="494138"/>
                </a:solidFill>
                <a:latin typeface="Arial"/>
                <a:cs typeface="Arial"/>
              </a:rPr>
              <a:t>on</a:t>
            </a:r>
            <a:r>
              <a:rPr sz="1050" spc="-45" dirty="0">
                <a:solidFill>
                  <a:srgbClr val="494138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494138"/>
                </a:solidFill>
                <a:latin typeface="Arial"/>
                <a:cs typeface="Arial"/>
              </a:rPr>
              <a:t>to</a:t>
            </a:r>
            <a:r>
              <a:rPr sz="1050" spc="-60" dirty="0">
                <a:solidFill>
                  <a:srgbClr val="494138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94138"/>
                </a:solidFill>
                <a:latin typeface="Arial"/>
                <a:cs typeface="Arial"/>
              </a:rPr>
              <a:t>p</a:t>
            </a:r>
            <a:r>
              <a:rPr sz="1050" spc="45" dirty="0">
                <a:solidFill>
                  <a:srgbClr val="28211A"/>
                </a:solidFill>
                <a:latin typeface="Arial"/>
                <a:cs typeface="Arial"/>
              </a:rPr>
              <a:t>r</a:t>
            </a:r>
            <a:r>
              <a:rPr sz="1050" spc="15" dirty="0">
                <a:solidFill>
                  <a:srgbClr val="595249"/>
                </a:solidFill>
                <a:latin typeface="Arial"/>
                <a:cs typeface="Arial"/>
              </a:rPr>
              <a:t>oduce</a:t>
            </a:r>
            <a:r>
              <a:rPr sz="1050" spc="-4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95249"/>
                </a:solidFill>
                <a:latin typeface="Arial"/>
                <a:cs typeface="Arial"/>
              </a:rPr>
              <a:t>the</a:t>
            </a:r>
            <a:r>
              <a:rPr sz="1050" spc="-40" dirty="0">
                <a:solidFill>
                  <a:srgbClr val="595249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95249"/>
                </a:solidFill>
                <a:latin typeface="Arial"/>
                <a:cs typeface="Arial"/>
              </a:rPr>
              <a:t>output.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1885" y="2583543"/>
            <a:ext cx="4296228" cy="3207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314" y="3497943"/>
            <a:ext cx="2627630" cy="0"/>
          </a:xfrm>
          <a:custGeom>
            <a:avLst/>
            <a:gdLst/>
            <a:ahLst/>
            <a:cxnLst/>
            <a:rect l="l" t="t" r="r" b="b"/>
            <a:pathLst>
              <a:path w="2627630">
                <a:moveTo>
                  <a:pt x="0" y="0"/>
                </a:moveTo>
                <a:lnTo>
                  <a:pt x="2627085" y="0"/>
                </a:lnTo>
              </a:path>
            </a:pathLst>
          </a:custGeom>
          <a:ln w="29028">
            <a:solidFill>
              <a:srgbClr val="5738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542" y="6705600"/>
            <a:ext cx="6169025" cy="0"/>
          </a:xfrm>
          <a:custGeom>
            <a:avLst/>
            <a:gdLst/>
            <a:ahLst/>
            <a:cxnLst/>
            <a:rect l="l" t="t" r="r" b="b"/>
            <a:pathLst>
              <a:path w="6169025">
                <a:moveTo>
                  <a:pt x="0" y="0"/>
                </a:moveTo>
                <a:lnTo>
                  <a:pt x="6168571" y="0"/>
                </a:lnTo>
              </a:path>
            </a:pathLst>
          </a:custGeom>
          <a:ln w="7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13600" y="2812143"/>
            <a:ext cx="2540000" cy="0"/>
          </a:xfrm>
          <a:custGeom>
            <a:avLst/>
            <a:gdLst/>
            <a:ahLst/>
            <a:cxnLst/>
            <a:rect l="l" t="t" r="r" b="b"/>
            <a:pathLst>
              <a:path w="2540000">
                <a:moveTo>
                  <a:pt x="0" y="0"/>
                </a:moveTo>
                <a:lnTo>
                  <a:pt x="2540000" y="0"/>
                </a:lnTo>
              </a:path>
            </a:pathLst>
          </a:custGeom>
          <a:ln w="36285">
            <a:solidFill>
              <a:srgbClr val="5B87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17228" y="4281715"/>
            <a:ext cx="0" cy="871219"/>
          </a:xfrm>
          <a:custGeom>
            <a:avLst/>
            <a:gdLst/>
            <a:ahLst/>
            <a:cxnLst/>
            <a:rect l="l" t="t" r="r" b="b"/>
            <a:pathLst>
              <a:path h="871220">
                <a:moveTo>
                  <a:pt x="0" y="870856"/>
                </a:moveTo>
                <a:lnTo>
                  <a:pt x="0" y="0"/>
                </a:lnTo>
              </a:path>
            </a:pathLst>
          </a:custGeom>
          <a:ln w="36285">
            <a:solidFill>
              <a:srgbClr val="2BB8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13600" y="4535715"/>
            <a:ext cx="2540000" cy="0"/>
          </a:xfrm>
          <a:custGeom>
            <a:avLst/>
            <a:gdLst/>
            <a:ahLst/>
            <a:cxnLst/>
            <a:rect l="l" t="t" r="r" b="b"/>
            <a:pathLst>
              <a:path w="2540000">
                <a:moveTo>
                  <a:pt x="0" y="0"/>
                </a:moveTo>
                <a:lnTo>
                  <a:pt x="2540000" y="0"/>
                </a:lnTo>
              </a:path>
            </a:pathLst>
          </a:custGeom>
          <a:ln w="29028">
            <a:solidFill>
              <a:srgbClr val="3BC3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">
              <a:lnSpc>
                <a:spcPts val="2735"/>
              </a:lnSpc>
            </a:pPr>
            <a:r>
              <a:rPr spc="-120" dirty="0"/>
              <a:t>A</a:t>
            </a:r>
            <a:r>
              <a:rPr spc="-50" dirty="0"/>
              <a:t>CTI</a:t>
            </a:r>
            <a:r>
              <a:rPr spc="-345" dirty="0"/>
              <a:t>V</a:t>
            </a:r>
            <a:r>
              <a:rPr spc="-180" dirty="0"/>
              <a:t>A</a:t>
            </a:r>
            <a:r>
              <a:rPr spc="-60" dirty="0"/>
              <a:t>T</a:t>
            </a:r>
            <a:r>
              <a:rPr spc="-10" dirty="0"/>
              <a:t>I</a:t>
            </a:r>
            <a:r>
              <a:rPr spc="30" dirty="0"/>
              <a:t>ON</a:t>
            </a:r>
            <a:r>
              <a:rPr spc="-250" dirty="0"/>
              <a:t> </a:t>
            </a:r>
            <a:r>
              <a:rPr spc="-220" dirty="0"/>
              <a:t>F</a:t>
            </a:r>
            <a:r>
              <a:rPr spc="-65" dirty="0"/>
              <a:t>UN</a:t>
            </a:r>
            <a:r>
              <a:rPr spc="-290" dirty="0"/>
              <a:t>C</a:t>
            </a:r>
            <a:r>
              <a:rPr spc="-15" dirty="0"/>
              <a:t>T</a:t>
            </a:r>
            <a:r>
              <a:rPr spc="0" dirty="0"/>
              <a:t>I</a:t>
            </a:r>
            <a:r>
              <a:rPr spc="20" dirty="0"/>
              <a:t>O</a:t>
            </a:r>
            <a:r>
              <a:rPr spc="-125" dirty="0"/>
              <a:t>N</a:t>
            </a:r>
            <a:r>
              <a:rPr spc="-280" dirty="0"/>
              <a:t>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3528" y="2024622"/>
            <a:ext cx="19710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30" dirty="0">
                <a:solidFill>
                  <a:srgbClr val="82838A"/>
                </a:solidFill>
                <a:latin typeface="Arial"/>
                <a:cs typeface="Arial"/>
              </a:rPr>
              <a:t>Determin</a:t>
            </a:r>
            <a:r>
              <a:rPr sz="1200" spc="50" dirty="0">
                <a:solidFill>
                  <a:srgbClr val="82838A"/>
                </a:solidFill>
                <a:latin typeface="Arial"/>
                <a:cs typeface="Arial"/>
              </a:rPr>
              <a:t>i</a:t>
            </a:r>
            <a:r>
              <a:rPr sz="1200" spc="30" dirty="0">
                <a:solidFill>
                  <a:srgbClr val="82838A"/>
                </a:solidFill>
                <a:latin typeface="Arial"/>
                <a:cs typeface="Arial"/>
              </a:rPr>
              <a:t>ng</a:t>
            </a:r>
            <a:r>
              <a:rPr sz="1200" spc="-135" dirty="0">
                <a:solidFill>
                  <a:srgbClr val="82838A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82838A"/>
                </a:solidFill>
                <a:latin typeface="Arial"/>
                <a:cs typeface="Arial"/>
              </a:rPr>
              <a:t>N</a:t>
            </a:r>
            <a:r>
              <a:rPr sz="1200" spc="30" dirty="0">
                <a:solidFill>
                  <a:srgbClr val="82838A"/>
                </a:solidFill>
                <a:latin typeface="Arial"/>
                <a:cs typeface="Arial"/>
              </a:rPr>
              <a:t>euron</a:t>
            </a:r>
            <a:r>
              <a:rPr sz="1200" spc="-70" dirty="0">
                <a:solidFill>
                  <a:srgbClr val="82838A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2838A"/>
                </a:solidFill>
                <a:latin typeface="Arial"/>
                <a:cs typeface="Arial"/>
              </a:rPr>
              <a:t>Output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928" y="3791111"/>
            <a:ext cx="2113915" cy="688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70" dirty="0">
                <a:solidFill>
                  <a:srgbClr val="0E111C"/>
                </a:solidFill>
                <a:latin typeface="Arial"/>
                <a:cs typeface="Arial"/>
              </a:rPr>
              <a:t>Step</a:t>
            </a:r>
            <a:r>
              <a:rPr sz="1400" b="1" spc="-150" dirty="0">
                <a:solidFill>
                  <a:srgbClr val="0E111C"/>
                </a:solidFill>
                <a:latin typeface="Arial"/>
                <a:cs typeface="Arial"/>
              </a:rPr>
              <a:t> </a:t>
            </a:r>
            <a:r>
              <a:rPr sz="1400" b="1" spc="-185" dirty="0">
                <a:solidFill>
                  <a:srgbClr val="0E111C"/>
                </a:solidFill>
                <a:latin typeface="Arial"/>
                <a:cs typeface="Arial"/>
              </a:rPr>
              <a:t>F</a:t>
            </a:r>
            <a:r>
              <a:rPr sz="1400" b="1" spc="-55" dirty="0">
                <a:solidFill>
                  <a:srgbClr val="0E111C"/>
                </a:solidFill>
                <a:latin typeface="Arial"/>
                <a:cs typeface="Arial"/>
              </a:rPr>
              <a:t>unct</a:t>
            </a:r>
            <a:r>
              <a:rPr sz="1400" b="1" spc="-85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400" b="1" spc="-70" dirty="0">
                <a:solidFill>
                  <a:srgbClr val="0E111C"/>
                </a:solidFill>
                <a:latin typeface="Arial"/>
                <a:cs typeface="Arial"/>
              </a:rPr>
              <a:t>on</a:t>
            </a:r>
            <a:endParaRPr sz="1400" dirty="0">
              <a:latin typeface="Arial"/>
              <a:cs typeface="Arial"/>
            </a:endParaRPr>
          </a:p>
          <a:p>
            <a:pPr marL="19685" marR="5080" indent="-7620">
              <a:lnSpc>
                <a:spcPct val="140600"/>
              </a:lnSpc>
              <a:spcBef>
                <a:spcPts val="270"/>
              </a:spcBef>
            </a:pPr>
            <a:r>
              <a:rPr sz="1050" spc="25" dirty="0">
                <a:solidFill>
                  <a:srgbClr val="0E111C"/>
                </a:solidFill>
                <a:latin typeface="Arial"/>
                <a:cs typeface="Arial"/>
              </a:rPr>
              <a:t>T</a:t>
            </a:r>
            <a:r>
              <a:rPr sz="1050" spc="5" dirty="0">
                <a:solidFill>
                  <a:srgbClr val="49494D"/>
                </a:solidFill>
                <a:latin typeface="Arial"/>
                <a:cs typeface="Arial"/>
              </a:rPr>
              <a:t>he</a:t>
            </a:r>
            <a:r>
              <a:rPr sz="1050" spc="-10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B5B60"/>
                </a:solidFill>
                <a:latin typeface="Arial"/>
                <a:cs typeface="Arial"/>
              </a:rPr>
              <a:t>output</a:t>
            </a:r>
            <a:r>
              <a:rPr sz="1050" spc="1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5B5B60"/>
                </a:solidFill>
                <a:latin typeface="Arial"/>
                <a:cs typeface="Arial"/>
              </a:rPr>
              <a:t>s</a:t>
            </a:r>
            <a:r>
              <a:rPr sz="1050" spc="-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B60"/>
                </a:solidFill>
                <a:latin typeface="Arial"/>
                <a:cs typeface="Arial"/>
              </a:rPr>
              <a:t>binar</a:t>
            </a:r>
            <a:r>
              <a:rPr sz="1050" spc="-55" dirty="0">
                <a:solidFill>
                  <a:srgbClr val="5B5B60"/>
                </a:solidFill>
                <a:latin typeface="Arial"/>
                <a:cs typeface="Arial"/>
              </a:rPr>
              <a:t>y</a:t>
            </a:r>
            <a:r>
              <a:rPr sz="1050" spc="155" dirty="0">
                <a:solidFill>
                  <a:srgbClr val="5B5B60"/>
                </a:solidFill>
                <a:latin typeface="Arial"/>
                <a:cs typeface="Arial"/>
              </a:rPr>
              <a:t>,</a:t>
            </a:r>
            <a:r>
              <a:rPr sz="1050" spc="40" dirty="0">
                <a:solidFill>
                  <a:srgbClr val="49494D"/>
                </a:solidFill>
                <a:latin typeface="Arial"/>
                <a:cs typeface="Arial"/>
              </a:rPr>
              <a:t>e</a:t>
            </a:r>
            <a:r>
              <a:rPr sz="1050" spc="-10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050" spc="45" dirty="0">
                <a:solidFill>
                  <a:srgbClr val="5B5B60"/>
                </a:solidFill>
                <a:latin typeface="Arial"/>
                <a:cs typeface="Arial"/>
              </a:rPr>
              <a:t>ther</a:t>
            </a:r>
            <a:r>
              <a:rPr sz="1050" spc="-3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85" dirty="0">
                <a:solidFill>
                  <a:srgbClr val="49494D"/>
                </a:solidFill>
                <a:latin typeface="Arial"/>
                <a:cs typeface="Arial"/>
              </a:rPr>
              <a:t>0</a:t>
            </a:r>
            <a:r>
              <a:rPr sz="1050" spc="-11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or</a:t>
            </a:r>
            <a:r>
              <a:rPr sz="1050" spc="4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5B5B60"/>
                </a:solidFill>
                <a:latin typeface="Arial"/>
                <a:cs typeface="Arial"/>
              </a:rPr>
              <a:t>1</a:t>
            </a:r>
            <a:r>
              <a:rPr sz="1050" spc="145" dirty="0">
                <a:solidFill>
                  <a:srgbClr val="82838A"/>
                </a:solidFill>
                <a:latin typeface="Arial"/>
                <a:cs typeface="Arial"/>
              </a:rPr>
              <a:t>, </a:t>
            </a:r>
            <a:r>
              <a:rPr sz="1050" spc="-20" dirty="0">
                <a:solidFill>
                  <a:srgbClr val="5B5B60"/>
                </a:solidFill>
                <a:latin typeface="Arial"/>
                <a:cs typeface="Arial"/>
              </a:rPr>
              <a:t>based</a:t>
            </a:r>
            <a:r>
              <a:rPr sz="1050" spc="-4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49494D"/>
                </a:solidFill>
                <a:latin typeface="Arial"/>
                <a:cs typeface="Arial"/>
              </a:rPr>
              <a:t>on</a:t>
            </a:r>
            <a:r>
              <a:rPr sz="1050" spc="-105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B5B60"/>
                </a:solidFill>
                <a:latin typeface="Arial"/>
                <a:cs typeface="Arial"/>
              </a:rPr>
              <a:t>a</a:t>
            </a:r>
            <a:r>
              <a:rPr sz="1050" spc="-8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B60"/>
                </a:solidFill>
                <a:latin typeface="Arial"/>
                <a:cs typeface="Arial"/>
              </a:rPr>
              <a:t>thresho</a:t>
            </a:r>
            <a:r>
              <a:rPr sz="1050" spc="30" dirty="0">
                <a:solidFill>
                  <a:srgbClr val="5B5B60"/>
                </a:solidFill>
                <a:latin typeface="Arial"/>
                <a:cs typeface="Arial"/>
              </a:rPr>
              <a:t>l</a:t>
            </a:r>
            <a:r>
              <a:rPr sz="1050" spc="15" dirty="0">
                <a:solidFill>
                  <a:srgbClr val="5B5B60"/>
                </a:solidFill>
                <a:latin typeface="Arial"/>
                <a:cs typeface="Arial"/>
              </a:rPr>
              <a:t>d.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58956" y="3094426"/>
            <a:ext cx="2119630" cy="913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50" dirty="0">
                <a:solidFill>
                  <a:srgbClr val="0E111C"/>
                </a:solidFill>
                <a:latin typeface="Arial"/>
                <a:cs typeface="Arial"/>
              </a:rPr>
              <a:t>S</a:t>
            </a:r>
            <a:r>
              <a:rPr sz="1400" b="1" spc="-105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400" b="1" spc="-125" dirty="0">
                <a:solidFill>
                  <a:srgbClr val="0E111C"/>
                </a:solidFill>
                <a:latin typeface="Arial"/>
                <a:cs typeface="Arial"/>
              </a:rPr>
              <a:t>g</a:t>
            </a:r>
            <a:r>
              <a:rPr sz="1400" b="1" spc="-80" dirty="0">
                <a:solidFill>
                  <a:srgbClr val="0E111C"/>
                </a:solidFill>
                <a:latin typeface="Arial"/>
                <a:cs typeface="Arial"/>
              </a:rPr>
              <a:t>moid</a:t>
            </a:r>
            <a:r>
              <a:rPr sz="1400" b="1" spc="-95" dirty="0">
                <a:solidFill>
                  <a:srgbClr val="0E111C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0E111C"/>
                </a:solidFill>
                <a:latin typeface="Arial"/>
                <a:cs typeface="Arial"/>
              </a:rPr>
              <a:t>Function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ct val="140600"/>
              </a:lnSpc>
              <a:spcBef>
                <a:spcPts val="270"/>
              </a:spcBef>
            </a:pPr>
            <a:r>
              <a:rPr sz="1050" spc="25" dirty="0">
                <a:solidFill>
                  <a:srgbClr val="0E111C"/>
                </a:solidFill>
                <a:latin typeface="Arial"/>
                <a:cs typeface="Arial"/>
              </a:rPr>
              <a:t>T</a:t>
            </a:r>
            <a:r>
              <a:rPr sz="1050" spc="5" dirty="0">
                <a:solidFill>
                  <a:srgbClr val="49494D"/>
                </a:solidFill>
                <a:latin typeface="Arial"/>
                <a:cs typeface="Arial"/>
              </a:rPr>
              <a:t>he</a:t>
            </a:r>
            <a:r>
              <a:rPr sz="1050" spc="-10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B5B60"/>
                </a:solidFill>
                <a:latin typeface="Arial"/>
                <a:cs typeface="Arial"/>
              </a:rPr>
              <a:t>output</a:t>
            </a:r>
            <a:r>
              <a:rPr sz="1050" spc="1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5B5B60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49494D"/>
                </a:solidFill>
                <a:latin typeface="Arial"/>
                <a:cs typeface="Arial"/>
              </a:rPr>
              <a:t>a</a:t>
            </a:r>
            <a:r>
              <a:rPr sz="1050" spc="-15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B60"/>
                </a:solidFill>
                <a:latin typeface="Arial"/>
                <a:cs typeface="Arial"/>
              </a:rPr>
              <a:t>cont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10" dirty="0">
                <a:solidFill>
                  <a:srgbClr val="5B5B60"/>
                </a:solidFill>
                <a:latin typeface="Arial"/>
                <a:cs typeface="Arial"/>
              </a:rPr>
              <a:t>nuous</a:t>
            </a:r>
            <a:r>
              <a:rPr sz="1050" spc="-7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5B5B60"/>
                </a:solidFill>
                <a:latin typeface="Arial"/>
                <a:cs typeface="Arial"/>
              </a:rPr>
              <a:t>va</a:t>
            </a:r>
            <a:r>
              <a:rPr sz="1050" spc="-16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E111C"/>
                </a:solidFill>
                <a:latin typeface="Arial"/>
                <a:cs typeface="Arial"/>
              </a:rPr>
              <a:t>l</a:t>
            </a:r>
            <a:r>
              <a:rPr sz="1050" spc="35" dirty="0">
                <a:solidFill>
                  <a:srgbClr val="5B5B60"/>
                </a:solidFill>
                <a:latin typeface="Arial"/>
                <a:cs typeface="Arial"/>
              </a:rPr>
              <a:t>ue</a:t>
            </a:r>
            <a:r>
              <a:rPr sz="1050" spc="1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B5B60"/>
                </a:solidFill>
                <a:latin typeface="Arial"/>
                <a:cs typeface="Arial"/>
              </a:rPr>
              <a:t>between</a:t>
            </a:r>
            <a:r>
              <a:rPr sz="1050" spc="-6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85" dirty="0">
                <a:solidFill>
                  <a:srgbClr val="49494D"/>
                </a:solidFill>
                <a:latin typeface="Arial"/>
                <a:cs typeface="Arial"/>
              </a:rPr>
              <a:t>0</a:t>
            </a:r>
            <a:r>
              <a:rPr sz="1050" spc="-11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B60"/>
                </a:solidFill>
                <a:latin typeface="Arial"/>
                <a:cs typeface="Arial"/>
              </a:rPr>
              <a:t>and </a:t>
            </a:r>
            <a:r>
              <a:rPr sz="1050" spc="-20" dirty="0">
                <a:solidFill>
                  <a:srgbClr val="5B5B60"/>
                </a:solidFill>
                <a:latin typeface="Arial"/>
                <a:cs typeface="Arial"/>
              </a:rPr>
              <a:t>1</a:t>
            </a:r>
            <a:r>
              <a:rPr sz="1050" spc="155" dirty="0">
                <a:solidFill>
                  <a:srgbClr val="5B5B60"/>
                </a:solidFill>
                <a:latin typeface="Arial"/>
                <a:cs typeface="Arial"/>
              </a:rPr>
              <a:t>,</a:t>
            </a:r>
            <a:r>
              <a:rPr sz="1050" spc="30" dirty="0">
                <a:solidFill>
                  <a:srgbClr val="5B5B60"/>
                </a:solidFill>
                <a:latin typeface="Arial"/>
                <a:cs typeface="Arial"/>
              </a:rPr>
              <a:t>represent</a:t>
            </a:r>
            <a:r>
              <a:rPr sz="1050" spc="55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ng</a:t>
            </a:r>
            <a:r>
              <a:rPr sz="1050" spc="-19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B60"/>
                </a:solidFill>
                <a:latin typeface="Arial"/>
                <a:cs typeface="Arial"/>
              </a:rPr>
              <a:t>the</a:t>
            </a:r>
            <a:r>
              <a:rPr sz="1050" spc="2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B60"/>
                </a:solidFill>
                <a:latin typeface="Arial"/>
                <a:cs typeface="Arial"/>
              </a:rPr>
              <a:t>probability</a:t>
            </a:r>
            <a:r>
              <a:rPr sz="1050" spc="-1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9494D"/>
                </a:solidFill>
                <a:latin typeface="Arial"/>
                <a:cs typeface="Arial"/>
              </a:rPr>
              <a:t>o</a:t>
            </a:r>
            <a:r>
              <a:rPr sz="1050" spc="10" dirty="0">
                <a:solidFill>
                  <a:srgbClr val="2A2B2F"/>
                </a:solidFill>
                <a:latin typeface="Arial"/>
                <a:cs typeface="Arial"/>
              </a:rPr>
              <a:t>f</a:t>
            </a:r>
            <a:r>
              <a:rPr sz="1050" spc="-30" dirty="0">
                <a:solidFill>
                  <a:srgbClr val="2A2B2F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49494D"/>
                </a:solidFill>
                <a:latin typeface="Arial"/>
                <a:cs typeface="Arial"/>
              </a:rPr>
              <a:t>a</a:t>
            </a:r>
            <a:r>
              <a:rPr sz="1050" spc="-15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9494D"/>
                </a:solidFill>
                <a:latin typeface="Arial"/>
                <a:cs typeface="Arial"/>
              </a:rPr>
              <a:t>cert</a:t>
            </a:r>
            <a:r>
              <a:rPr sz="1050" spc="110" dirty="0">
                <a:solidFill>
                  <a:srgbClr val="49494D"/>
                </a:solidFill>
                <a:latin typeface="Arial"/>
                <a:cs typeface="Arial"/>
              </a:rPr>
              <a:t>a</a:t>
            </a:r>
            <a:r>
              <a:rPr sz="1050" spc="50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050" spc="5" dirty="0">
                <a:solidFill>
                  <a:srgbClr val="5B5B60"/>
                </a:solidFill>
                <a:latin typeface="Arial"/>
                <a:cs typeface="Arial"/>
              </a:rPr>
              <a:t>n</a:t>
            </a:r>
            <a:r>
              <a:rPr sz="1050" spc="-14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5B5B60"/>
                </a:solidFill>
                <a:latin typeface="Arial"/>
                <a:cs typeface="Arial"/>
              </a:rPr>
              <a:t>clas</a:t>
            </a:r>
            <a:r>
              <a:rPr sz="1050" spc="55" dirty="0">
                <a:solidFill>
                  <a:srgbClr val="5B5B60"/>
                </a:solidFill>
                <a:latin typeface="Arial"/>
                <a:cs typeface="Arial"/>
              </a:rPr>
              <a:t>s</a:t>
            </a:r>
            <a:r>
              <a:rPr sz="1050" spc="15" dirty="0">
                <a:solidFill>
                  <a:srgbClr val="0E111C"/>
                </a:solidFill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1185" y="4828882"/>
            <a:ext cx="2124075" cy="906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1400" b="1" spc="-95" dirty="0">
                <a:solidFill>
                  <a:srgbClr val="0E111C"/>
                </a:solidFill>
                <a:latin typeface="Arial"/>
                <a:cs typeface="Arial"/>
              </a:rPr>
              <a:t>ReLU</a:t>
            </a:r>
            <a:r>
              <a:rPr sz="1400" b="1" spc="-175" dirty="0">
                <a:solidFill>
                  <a:srgbClr val="0E111C"/>
                </a:solidFill>
                <a:latin typeface="Arial"/>
                <a:cs typeface="Arial"/>
              </a:rPr>
              <a:t> </a:t>
            </a:r>
            <a:r>
              <a:rPr sz="1400" b="1" spc="-185" dirty="0">
                <a:solidFill>
                  <a:srgbClr val="0E111C"/>
                </a:solidFill>
                <a:latin typeface="Arial"/>
                <a:cs typeface="Arial"/>
              </a:rPr>
              <a:t>F</a:t>
            </a:r>
            <a:r>
              <a:rPr sz="1400" b="1" spc="-55" dirty="0">
                <a:solidFill>
                  <a:srgbClr val="0E111C"/>
                </a:solidFill>
                <a:latin typeface="Arial"/>
                <a:cs typeface="Arial"/>
              </a:rPr>
              <a:t>unct</a:t>
            </a:r>
            <a:r>
              <a:rPr sz="1400" b="1" spc="-85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400" b="1" spc="-70" dirty="0">
                <a:solidFill>
                  <a:srgbClr val="0E111C"/>
                </a:solidFill>
                <a:latin typeface="Arial"/>
                <a:cs typeface="Arial"/>
              </a:rPr>
              <a:t>on</a:t>
            </a:r>
            <a:endParaRPr sz="1400" dirty="0">
              <a:latin typeface="Arial"/>
              <a:cs typeface="Arial"/>
            </a:endParaRPr>
          </a:p>
          <a:p>
            <a:pPr marL="19685" marR="5080" indent="-7620">
              <a:lnSpc>
                <a:spcPct val="138300"/>
              </a:lnSpc>
              <a:spcBef>
                <a:spcPts val="300"/>
              </a:spcBef>
            </a:pPr>
            <a:r>
              <a:rPr sz="1050" spc="10" dirty="0">
                <a:solidFill>
                  <a:srgbClr val="49494D"/>
                </a:solidFill>
                <a:latin typeface="Arial"/>
                <a:cs typeface="Arial"/>
              </a:rPr>
              <a:t>The</a:t>
            </a:r>
            <a:r>
              <a:rPr sz="1050" spc="-10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49494D"/>
                </a:solidFill>
                <a:latin typeface="Arial"/>
                <a:cs typeface="Arial"/>
              </a:rPr>
              <a:t>output</a:t>
            </a:r>
            <a:r>
              <a:rPr sz="1050" spc="7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49494D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150" dirty="0">
                <a:solidFill>
                  <a:srgbClr val="5B5B60"/>
                </a:solidFill>
                <a:latin typeface="Arial"/>
                <a:cs typeface="Arial"/>
              </a:rPr>
              <a:t>0</a:t>
            </a:r>
            <a:r>
              <a:rPr sz="1050" spc="-17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for</a:t>
            </a:r>
            <a:r>
              <a:rPr sz="1050" spc="2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B5B60"/>
                </a:solidFill>
                <a:latin typeface="Arial"/>
                <a:cs typeface="Arial"/>
              </a:rPr>
              <a:t>negat</a:t>
            </a:r>
            <a:r>
              <a:rPr sz="1050" spc="-30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5" dirty="0">
                <a:solidFill>
                  <a:srgbClr val="5B5B60"/>
                </a:solidFill>
                <a:latin typeface="Arial"/>
                <a:cs typeface="Arial"/>
              </a:rPr>
              <a:t>ve</a:t>
            </a:r>
            <a:r>
              <a:rPr sz="1050" spc="1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20" dirty="0">
                <a:solidFill>
                  <a:srgbClr val="5B5B60"/>
                </a:solidFill>
                <a:latin typeface="Arial"/>
                <a:cs typeface="Arial"/>
              </a:rPr>
              <a:t>nputs</a:t>
            </a:r>
            <a:r>
              <a:rPr sz="1050" spc="1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5B5B60"/>
                </a:solidFill>
                <a:latin typeface="Arial"/>
                <a:cs typeface="Arial"/>
              </a:rPr>
              <a:t>and</a:t>
            </a:r>
            <a:r>
              <a:rPr sz="1050" spc="-3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9494D"/>
                </a:solidFill>
                <a:latin typeface="Arial"/>
                <a:cs typeface="Arial"/>
              </a:rPr>
              <a:t>the</a:t>
            </a:r>
            <a:r>
              <a:rPr sz="1050" spc="15" dirty="0">
                <a:solidFill>
                  <a:srgbClr val="49494D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5B5B60"/>
                </a:solidFill>
                <a:latin typeface="Arial"/>
                <a:cs typeface="Arial"/>
              </a:rPr>
              <a:t>input</a:t>
            </a:r>
            <a:r>
              <a:rPr sz="1050" spc="-4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5B5B60"/>
                </a:solidFill>
                <a:latin typeface="Arial"/>
                <a:cs typeface="Arial"/>
              </a:rPr>
              <a:t>v</a:t>
            </a:r>
            <a:r>
              <a:rPr sz="1050" spc="85" dirty="0">
                <a:solidFill>
                  <a:srgbClr val="5B5B60"/>
                </a:solidFill>
                <a:latin typeface="Arial"/>
                <a:cs typeface="Arial"/>
              </a:rPr>
              <a:t>a</a:t>
            </a:r>
            <a:r>
              <a:rPr sz="1050" spc="-10" dirty="0">
                <a:solidFill>
                  <a:srgbClr val="0E111C"/>
                </a:solidFill>
                <a:latin typeface="Arial"/>
                <a:cs typeface="Arial"/>
              </a:rPr>
              <a:t>l</a:t>
            </a:r>
            <a:r>
              <a:rPr sz="1050" spc="35" dirty="0">
                <a:solidFill>
                  <a:srgbClr val="5B5B60"/>
                </a:solidFill>
                <a:latin typeface="Arial"/>
                <a:cs typeface="Arial"/>
              </a:rPr>
              <a:t>ue</a:t>
            </a:r>
            <a:r>
              <a:rPr sz="1050" spc="-105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49494D"/>
                </a:solidFill>
                <a:latin typeface="Arial"/>
                <a:cs typeface="Arial"/>
              </a:rPr>
              <a:t>f</a:t>
            </a:r>
            <a:r>
              <a:rPr sz="1050" spc="120" dirty="0">
                <a:solidFill>
                  <a:srgbClr val="49494D"/>
                </a:solidFill>
                <a:latin typeface="Arial"/>
                <a:cs typeface="Arial"/>
              </a:rPr>
              <a:t>o</a:t>
            </a:r>
            <a:r>
              <a:rPr sz="1050" spc="45" dirty="0">
                <a:solidFill>
                  <a:srgbClr val="2A2B2F"/>
                </a:solidFill>
                <a:latin typeface="Arial"/>
                <a:cs typeface="Arial"/>
              </a:rPr>
              <a:t>r</a:t>
            </a:r>
            <a:r>
              <a:rPr sz="1050" spc="-65" dirty="0">
                <a:solidFill>
                  <a:srgbClr val="2A2B2F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B60"/>
                </a:solidFill>
                <a:latin typeface="Arial"/>
                <a:cs typeface="Arial"/>
              </a:rPr>
              <a:t>po</a:t>
            </a:r>
            <a:r>
              <a:rPr sz="1050" spc="40" dirty="0">
                <a:solidFill>
                  <a:srgbClr val="5B5B60"/>
                </a:solidFill>
                <a:latin typeface="Arial"/>
                <a:cs typeface="Arial"/>
              </a:rPr>
              <a:t>s</a:t>
            </a:r>
            <a:r>
              <a:rPr sz="1050" spc="-10" dirty="0">
                <a:solidFill>
                  <a:srgbClr val="0E111C"/>
                </a:solidFill>
                <a:latin typeface="Arial"/>
                <a:cs typeface="Arial"/>
              </a:rPr>
              <a:t>i</a:t>
            </a:r>
            <a:r>
              <a:rPr sz="1050" spc="114" dirty="0">
                <a:solidFill>
                  <a:srgbClr val="5B5B60"/>
                </a:solidFill>
                <a:latin typeface="Arial"/>
                <a:cs typeface="Arial"/>
              </a:rPr>
              <a:t>t</a:t>
            </a:r>
            <a:r>
              <a:rPr sz="1050" spc="35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5" dirty="0">
                <a:solidFill>
                  <a:srgbClr val="5B5B60"/>
                </a:solidFill>
                <a:latin typeface="Arial"/>
                <a:cs typeface="Arial"/>
              </a:rPr>
              <a:t>ve</a:t>
            </a:r>
            <a:r>
              <a:rPr sz="1050" dirty="0">
                <a:solidFill>
                  <a:srgbClr val="5B5B60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B60"/>
                </a:solidFill>
                <a:latin typeface="Arial"/>
                <a:cs typeface="Arial"/>
              </a:rPr>
              <a:t>i</a:t>
            </a:r>
            <a:r>
              <a:rPr sz="1050" spc="10" dirty="0">
                <a:solidFill>
                  <a:srgbClr val="5B5B60"/>
                </a:solidFill>
                <a:latin typeface="Arial"/>
                <a:cs typeface="Arial"/>
              </a:rPr>
              <a:t>nputs.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757" y="1592107"/>
            <a:ext cx="9154885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pc="-35" dirty="0" smtClean="0">
                <a:solidFill>
                  <a:srgbClr val="0A0F1C"/>
                </a:solidFill>
              </a:rPr>
              <a:t>A</a:t>
            </a:r>
            <a:r>
              <a:rPr spc="-150" dirty="0" smtClean="0">
                <a:solidFill>
                  <a:srgbClr val="0A0F1C"/>
                </a:solidFill>
              </a:rPr>
              <a:t>D</a:t>
            </a:r>
            <a:r>
              <a:rPr spc="-125" dirty="0" smtClean="0">
                <a:solidFill>
                  <a:srgbClr val="0A0F1C"/>
                </a:solidFill>
              </a:rPr>
              <a:t>V</a:t>
            </a:r>
            <a:r>
              <a:rPr spc="-35" dirty="0" smtClean="0">
                <a:solidFill>
                  <a:srgbClr val="0A0F1C"/>
                </a:solidFill>
              </a:rPr>
              <a:t>AN</a:t>
            </a:r>
            <a:r>
              <a:rPr spc="-280" dirty="0" smtClean="0">
                <a:solidFill>
                  <a:srgbClr val="0A0F1C"/>
                </a:solidFill>
              </a:rPr>
              <a:t>T</a:t>
            </a:r>
            <a:r>
              <a:rPr spc="-65" dirty="0" smtClean="0">
                <a:solidFill>
                  <a:srgbClr val="0A0F1C"/>
                </a:solidFill>
              </a:rPr>
              <a:t>A</a:t>
            </a:r>
            <a:r>
              <a:rPr spc="-310" dirty="0" smtClean="0">
                <a:solidFill>
                  <a:srgbClr val="0A0F1C"/>
                </a:solidFill>
              </a:rPr>
              <a:t>G</a:t>
            </a:r>
            <a:r>
              <a:rPr lang="en-US" spc="-310" dirty="0" smtClean="0">
                <a:solidFill>
                  <a:srgbClr val="0A0F1C"/>
                </a:solidFill>
              </a:rPr>
              <a:t> </a:t>
            </a:r>
            <a:r>
              <a:rPr spc="-310" dirty="0" smtClean="0">
                <a:solidFill>
                  <a:srgbClr val="0A0F1C"/>
                </a:solidFill>
              </a:rPr>
              <a:t>E</a:t>
            </a:r>
            <a:r>
              <a:rPr lang="en-US" spc="-310" dirty="0" smtClean="0">
                <a:solidFill>
                  <a:srgbClr val="0A0F1C"/>
                </a:solidFill>
              </a:rPr>
              <a:t> </a:t>
            </a:r>
            <a:r>
              <a:rPr spc="-310" dirty="0" smtClean="0">
                <a:solidFill>
                  <a:srgbClr val="0A0F1C"/>
                </a:solidFill>
              </a:rPr>
              <a:t>S</a:t>
            </a:r>
            <a:r>
              <a:rPr spc="-275" dirty="0" smtClean="0">
                <a:solidFill>
                  <a:srgbClr val="0A0F1C"/>
                </a:solidFill>
              </a:rPr>
              <a:t> </a:t>
            </a:r>
            <a:r>
              <a:rPr lang="en-US" spc="-275" dirty="0" smtClean="0">
                <a:solidFill>
                  <a:srgbClr val="0A0F1C"/>
                </a:solidFill>
              </a:rPr>
              <a:t> </a:t>
            </a:r>
            <a:r>
              <a:rPr spc="50" dirty="0" smtClean="0">
                <a:solidFill>
                  <a:srgbClr val="0A0F1C"/>
                </a:solidFill>
              </a:rPr>
              <a:t>A</a:t>
            </a:r>
            <a:r>
              <a:rPr spc="45" dirty="0" smtClean="0">
                <a:solidFill>
                  <a:srgbClr val="0A0F1C"/>
                </a:solidFill>
              </a:rPr>
              <a:t>N</a:t>
            </a:r>
            <a:r>
              <a:rPr spc="95" dirty="0" smtClean="0">
                <a:solidFill>
                  <a:srgbClr val="0A0F1C"/>
                </a:solidFill>
              </a:rPr>
              <a:t>D</a:t>
            </a:r>
            <a:r>
              <a:rPr spc="-400" dirty="0" smtClean="0">
                <a:solidFill>
                  <a:srgbClr val="0A0F1C"/>
                </a:solidFill>
              </a:rPr>
              <a:t> </a:t>
            </a:r>
            <a:r>
              <a:rPr spc="-145" dirty="0">
                <a:solidFill>
                  <a:srgbClr val="0A0F1C"/>
                </a:solidFill>
              </a:rPr>
              <a:t>L</a:t>
            </a:r>
            <a:r>
              <a:rPr spc="-95" dirty="0">
                <a:solidFill>
                  <a:srgbClr val="0A0F1C"/>
                </a:solidFill>
              </a:rPr>
              <a:t>I</a:t>
            </a:r>
            <a:r>
              <a:rPr spc="195" dirty="0">
                <a:solidFill>
                  <a:srgbClr val="0A0F1C"/>
                </a:solidFill>
              </a:rPr>
              <a:t>M</a:t>
            </a:r>
            <a:r>
              <a:rPr dirty="0">
                <a:solidFill>
                  <a:srgbClr val="0A0F1C"/>
                </a:solidFill>
              </a:rPr>
              <a:t>I</a:t>
            </a:r>
            <a:r>
              <a:rPr spc="-405" dirty="0">
                <a:solidFill>
                  <a:srgbClr val="0A0F1C"/>
                </a:solidFill>
              </a:rPr>
              <a:t>T</a:t>
            </a:r>
            <a:r>
              <a:rPr spc="-180" dirty="0">
                <a:solidFill>
                  <a:srgbClr val="0A0F1C"/>
                </a:solidFill>
              </a:rPr>
              <a:t>A</a:t>
            </a:r>
            <a:r>
              <a:rPr spc="-60" dirty="0">
                <a:solidFill>
                  <a:srgbClr val="0A0F1C"/>
                </a:solidFill>
              </a:rPr>
              <a:t>T</a:t>
            </a:r>
            <a:r>
              <a:rPr spc="-10" dirty="0">
                <a:solidFill>
                  <a:srgbClr val="0A0F1C"/>
                </a:solidFill>
              </a:rPr>
              <a:t>I</a:t>
            </a:r>
            <a:r>
              <a:rPr spc="20" dirty="0">
                <a:solidFill>
                  <a:srgbClr val="0A0F1C"/>
                </a:solidFill>
              </a:rPr>
              <a:t>O</a:t>
            </a:r>
            <a:r>
              <a:rPr spc="-65" dirty="0">
                <a:solidFill>
                  <a:srgbClr val="0A0F1C"/>
                </a:solidFill>
              </a:rPr>
              <a:t>N</a:t>
            </a:r>
            <a:r>
              <a:rPr spc="-280" dirty="0">
                <a:solidFill>
                  <a:srgbClr val="0A0F1C"/>
                </a:solidFill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014" y="2078455"/>
            <a:ext cx="99885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z="1100" spc="35" dirty="0">
                <a:solidFill>
                  <a:srgbClr val="808289"/>
                </a:solidFill>
                <a:latin typeface="Arial"/>
                <a:cs typeface="Arial"/>
              </a:rPr>
              <a:t>Pros</a:t>
            </a:r>
            <a:r>
              <a:rPr sz="1100" spc="-65" dirty="0">
                <a:solidFill>
                  <a:srgbClr val="808289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808289"/>
                </a:solidFill>
                <a:latin typeface="Arial"/>
                <a:cs typeface="Arial"/>
              </a:rPr>
              <a:t>and</a:t>
            </a:r>
            <a:r>
              <a:rPr sz="1100" spc="-60" dirty="0">
                <a:solidFill>
                  <a:srgbClr val="808289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808289"/>
                </a:solidFill>
                <a:latin typeface="Arial"/>
                <a:cs typeface="Arial"/>
              </a:rPr>
              <a:t>Cons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45028"/>
            <a:ext cx="10043885" cy="1277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31771" y="3193143"/>
            <a:ext cx="2394856" cy="22642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712856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14514">
            <a:solidFill>
              <a:srgbClr val="3434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8" y="2307771"/>
            <a:ext cx="0" cy="4412615"/>
          </a:xfrm>
          <a:custGeom>
            <a:avLst/>
            <a:gdLst/>
            <a:ahLst/>
            <a:cxnLst/>
            <a:rect l="l" t="t" r="r" b="b"/>
            <a:pathLst>
              <a:path h="4412615">
                <a:moveTo>
                  <a:pt x="0" y="4412343"/>
                </a:moveTo>
                <a:lnTo>
                  <a:pt x="0" y="0"/>
                </a:lnTo>
              </a:path>
            </a:pathLst>
          </a:custGeom>
          <a:ln w="7257">
            <a:solidFill>
              <a:srgbClr val="130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54771" y="2307771"/>
            <a:ext cx="0" cy="4412615"/>
          </a:xfrm>
          <a:custGeom>
            <a:avLst/>
            <a:gdLst/>
            <a:ahLst/>
            <a:cxnLst/>
            <a:rect l="l" t="t" r="r" b="b"/>
            <a:pathLst>
              <a:path h="4412615">
                <a:moveTo>
                  <a:pt x="0" y="4412343"/>
                </a:moveTo>
                <a:lnTo>
                  <a:pt x="0" y="0"/>
                </a:lnTo>
              </a:path>
            </a:pathLst>
          </a:custGeom>
          <a:ln w="7257">
            <a:solidFill>
              <a:srgbClr val="130C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3585" y="3092611"/>
            <a:ext cx="189166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50" dirty="0">
                <a:solidFill>
                  <a:srgbClr val="111113"/>
                </a:solidFill>
                <a:latin typeface="Arial"/>
                <a:cs typeface="Arial"/>
              </a:rPr>
              <a:t>S</a:t>
            </a:r>
            <a:r>
              <a:rPr sz="1400" b="1" spc="-45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400" b="1" spc="-80" dirty="0">
                <a:solidFill>
                  <a:srgbClr val="111113"/>
                </a:solidFill>
                <a:latin typeface="Arial"/>
                <a:cs typeface="Arial"/>
              </a:rPr>
              <a:t>n</a:t>
            </a:r>
            <a:r>
              <a:rPr sz="1400" b="1" spc="-170" dirty="0">
                <a:solidFill>
                  <a:srgbClr val="111113"/>
                </a:solidFill>
                <a:latin typeface="Arial"/>
                <a:cs typeface="Arial"/>
              </a:rPr>
              <a:t>g</a:t>
            </a:r>
            <a:r>
              <a:rPr sz="1400" b="1" spc="-55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400" b="1" spc="-80" dirty="0">
                <a:solidFill>
                  <a:srgbClr val="111113"/>
                </a:solidFill>
                <a:latin typeface="Arial"/>
                <a:cs typeface="Arial"/>
              </a:rPr>
              <a:t>e-Layer</a:t>
            </a:r>
            <a:r>
              <a:rPr sz="1400" b="1" spc="-15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1400" b="1" spc="-150" dirty="0">
                <a:solidFill>
                  <a:srgbClr val="111113"/>
                </a:solidFill>
                <a:latin typeface="Arial"/>
                <a:cs typeface="Arial"/>
              </a:rPr>
              <a:t>P</a:t>
            </a:r>
            <a:r>
              <a:rPr sz="1400" b="1" spc="-55" dirty="0">
                <a:solidFill>
                  <a:srgbClr val="111113"/>
                </a:solidFill>
                <a:latin typeface="Arial"/>
                <a:cs typeface="Arial"/>
              </a:rPr>
              <a:t>erceptron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" y="3246753"/>
            <a:ext cx="3249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10"/>
              </a:lnSpc>
              <a:tabLst>
                <a:tab pos="2849880" algn="l"/>
              </a:tabLst>
            </a:pP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Percep</a:t>
            </a:r>
            <a:r>
              <a:rPr sz="1050" spc="105" dirty="0">
                <a:solidFill>
                  <a:srgbClr val="49423A"/>
                </a:solidFill>
                <a:latin typeface="Arial"/>
                <a:cs typeface="Arial"/>
              </a:rPr>
              <a:t>t</a:t>
            </a:r>
            <a:r>
              <a:rPr sz="1050" spc="45" dirty="0">
                <a:solidFill>
                  <a:srgbClr val="33281F"/>
                </a:solidFill>
                <a:latin typeface="Arial"/>
                <a:cs typeface="Arial"/>
              </a:rPr>
              <a:t>r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on</a:t>
            </a:r>
            <a:r>
              <a:rPr sz="1050" spc="-4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i</a:t>
            </a:r>
            <a:r>
              <a:rPr sz="1050" spc="-75" dirty="0">
                <a:solidFill>
                  <a:srgbClr val="5B524B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49423A"/>
                </a:solidFill>
                <a:latin typeface="Arial"/>
                <a:cs typeface="Arial"/>
              </a:rPr>
              <a:t>a</a:t>
            </a:r>
            <a:r>
              <a:rPr sz="1050" spc="-7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sing</a:t>
            </a:r>
            <a:r>
              <a:rPr sz="1050" spc="45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-15" dirty="0">
                <a:solidFill>
                  <a:srgbClr val="5B524B"/>
                </a:solidFill>
                <a:latin typeface="Arial"/>
                <a:cs typeface="Arial"/>
              </a:rPr>
              <a:t>e</a:t>
            </a:r>
            <a:r>
              <a:rPr sz="1050" spc="45" dirty="0">
                <a:solidFill>
                  <a:srgbClr val="28180A"/>
                </a:solidFill>
                <a:latin typeface="Arial"/>
                <a:cs typeface="Arial"/>
              </a:rPr>
              <a:t>-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ayer</a:t>
            </a:r>
            <a:r>
              <a:rPr sz="1050" spc="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neur</a:t>
            </a:r>
            <a:r>
              <a:rPr sz="1050" spc="75" dirty="0">
                <a:solidFill>
                  <a:srgbClr val="5B524B"/>
                </a:solidFill>
                <a:latin typeface="Arial"/>
                <a:cs typeface="Arial"/>
              </a:rPr>
              <a:t>a</a:t>
            </a:r>
            <a:r>
              <a:rPr sz="1050" spc="5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-120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B524B"/>
                </a:solidFill>
                <a:latin typeface="Arial"/>
                <a:cs typeface="Arial"/>
              </a:rPr>
              <a:t>network,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	</a:t>
            </a:r>
            <a:r>
              <a:rPr sz="2600" b="1" spc="220" dirty="0">
                <a:solidFill>
                  <a:srgbClr val="502AC6"/>
                </a:solidFill>
                <a:latin typeface="Times New Roman"/>
                <a:cs typeface="Times New Roman"/>
              </a:rPr>
              <a:t>01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024" y="3672277"/>
            <a:ext cx="2286635" cy="35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5" dirty="0">
                <a:solidFill>
                  <a:srgbClr val="5B524B"/>
                </a:solidFill>
                <a:latin typeface="Arial"/>
                <a:cs typeface="Arial"/>
              </a:rPr>
              <a:t>wh</a:t>
            </a:r>
            <a:r>
              <a:rPr sz="1050" spc="125" dirty="0">
                <a:solidFill>
                  <a:srgbClr val="5B524B"/>
                </a:solidFill>
                <a:latin typeface="Arial"/>
                <a:cs typeface="Arial"/>
              </a:rPr>
              <a:t>e</a:t>
            </a:r>
            <a:r>
              <a:rPr sz="1050" spc="45" dirty="0">
                <a:solidFill>
                  <a:srgbClr val="33281F"/>
                </a:solidFill>
                <a:latin typeface="Arial"/>
                <a:cs typeface="Arial"/>
              </a:rPr>
              <a:t>r</a:t>
            </a:r>
            <a:r>
              <a:rPr sz="1050" spc="-20" dirty="0">
                <a:solidFill>
                  <a:srgbClr val="49423A"/>
                </a:solidFill>
                <a:latin typeface="Arial"/>
                <a:cs typeface="Arial"/>
              </a:rPr>
              <a:t>eas</a:t>
            </a:r>
            <a:r>
              <a:rPr sz="1050" spc="-5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other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24B"/>
                </a:solidFill>
                <a:latin typeface="Arial"/>
                <a:cs typeface="Arial"/>
              </a:rPr>
              <a:t>mode</a:t>
            </a:r>
            <a:r>
              <a:rPr sz="1050" spc="-25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-10" dirty="0">
                <a:solidFill>
                  <a:srgbClr val="5B524B"/>
                </a:solidFill>
                <a:latin typeface="Arial"/>
                <a:cs typeface="Arial"/>
              </a:rPr>
              <a:t>s</a:t>
            </a:r>
            <a:r>
              <a:rPr sz="1050" spc="-7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li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ke</a:t>
            </a:r>
            <a:r>
              <a:rPr sz="1050" spc="-5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50" dirty="0">
                <a:solidFill>
                  <a:srgbClr val="49423A"/>
                </a:solidFill>
                <a:latin typeface="Arial"/>
                <a:cs typeface="Arial"/>
              </a:rPr>
              <a:t>M</a:t>
            </a:r>
            <a:r>
              <a:rPr sz="1050" spc="-15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-30" dirty="0">
                <a:solidFill>
                  <a:srgbClr val="49423A"/>
                </a:solidFill>
                <a:latin typeface="Arial"/>
                <a:cs typeface="Arial"/>
              </a:rPr>
              <a:t>P</a:t>
            </a:r>
            <a:r>
              <a:rPr sz="1050" spc="-114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5B524B"/>
                </a:solidFill>
                <a:latin typeface="Arial"/>
                <a:cs typeface="Arial"/>
              </a:rPr>
              <a:t>have</a:t>
            </a:r>
            <a:endParaRPr sz="1050" dirty="0">
              <a:latin typeface="Arial"/>
              <a:cs typeface="Arial"/>
            </a:endParaRPr>
          </a:p>
          <a:p>
            <a:pPr marL="1332865">
              <a:lnSpc>
                <a:spcPts val="1250"/>
              </a:lnSpc>
              <a:spcBef>
                <a:spcPts val="509"/>
              </a:spcBef>
            </a:pPr>
            <a:r>
              <a:rPr sz="1050" spc="15" dirty="0">
                <a:solidFill>
                  <a:srgbClr val="49423A"/>
                </a:solidFill>
                <a:latin typeface="Arial"/>
                <a:cs typeface="Arial"/>
              </a:rPr>
              <a:t>m</a:t>
            </a:r>
            <a:r>
              <a:rPr sz="1050" spc="65" dirty="0">
                <a:solidFill>
                  <a:srgbClr val="49423A"/>
                </a:solidFill>
                <a:latin typeface="Arial"/>
                <a:cs typeface="Arial"/>
              </a:rPr>
              <a:t>u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155" dirty="0">
                <a:solidFill>
                  <a:srgbClr val="5B524B"/>
                </a:solidFill>
                <a:latin typeface="Arial"/>
                <a:cs typeface="Arial"/>
              </a:rPr>
              <a:t>t</a:t>
            </a:r>
            <a:r>
              <a:rPr sz="1050" spc="110" dirty="0">
                <a:solidFill>
                  <a:srgbClr val="5B524B"/>
                </a:solidFill>
                <a:latin typeface="Arial"/>
                <a:cs typeface="Arial"/>
              </a:rPr>
              <a:t>i</a:t>
            </a:r>
            <a:r>
              <a:rPr sz="1050" spc="40" dirty="0">
                <a:solidFill>
                  <a:srgbClr val="5B524B"/>
                </a:solidFill>
                <a:latin typeface="Arial"/>
                <a:cs typeface="Arial"/>
              </a:rPr>
              <a:t>p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e</a:t>
            </a:r>
            <a:r>
              <a:rPr sz="1050" spc="-2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dirty="0">
                <a:solidFill>
                  <a:srgbClr val="49423A"/>
                </a:solidFill>
                <a:latin typeface="Arial"/>
                <a:cs typeface="Arial"/>
              </a:rPr>
              <a:t>ayers.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385" y="4856683"/>
            <a:ext cx="2470150" cy="906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620" algn="r">
              <a:lnSpc>
                <a:spcPct val="100000"/>
              </a:lnSpc>
            </a:pPr>
            <a:r>
              <a:rPr sz="1400" b="1" spc="-90" dirty="0">
                <a:solidFill>
                  <a:srgbClr val="111113"/>
                </a:solidFill>
                <a:latin typeface="Arial"/>
                <a:cs typeface="Arial"/>
              </a:rPr>
              <a:t>Comp</a:t>
            </a:r>
            <a:r>
              <a:rPr sz="1400" b="1" spc="-40" dirty="0">
                <a:solidFill>
                  <a:srgbClr val="111113"/>
                </a:solidFill>
                <a:latin typeface="Arial"/>
                <a:cs typeface="Arial"/>
              </a:rPr>
              <a:t>lex</a:t>
            </a:r>
            <a:r>
              <a:rPr sz="1400" b="1" spc="-60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400" b="1" spc="15" dirty="0">
                <a:solidFill>
                  <a:srgbClr val="111113"/>
                </a:solidFill>
                <a:latin typeface="Arial"/>
                <a:cs typeface="Arial"/>
              </a:rPr>
              <a:t>ty</a:t>
            </a:r>
            <a:endParaRPr sz="1400" dirty="0">
              <a:latin typeface="Arial"/>
              <a:cs typeface="Arial"/>
            </a:endParaRPr>
          </a:p>
          <a:p>
            <a:pPr marL="367665" marR="5080" indent="-355600" algn="r">
              <a:lnSpc>
                <a:spcPct val="136100"/>
              </a:lnSpc>
              <a:spcBef>
                <a:spcPts val="385"/>
              </a:spcBef>
            </a:pPr>
            <a:r>
              <a:rPr sz="1050" spc="35" dirty="0">
                <a:solidFill>
                  <a:srgbClr val="49423A"/>
                </a:solidFill>
                <a:latin typeface="Arial"/>
                <a:cs typeface="Arial"/>
              </a:rPr>
              <a:t>Oth</a:t>
            </a:r>
            <a:r>
              <a:rPr sz="1050" spc="95" dirty="0">
                <a:solidFill>
                  <a:srgbClr val="49423A"/>
                </a:solidFill>
                <a:latin typeface="Arial"/>
                <a:cs typeface="Arial"/>
              </a:rPr>
              <a:t>e</a:t>
            </a:r>
            <a:r>
              <a:rPr sz="1050" spc="45" dirty="0">
                <a:solidFill>
                  <a:srgbClr val="33281F"/>
                </a:solidFill>
                <a:latin typeface="Arial"/>
                <a:cs typeface="Arial"/>
              </a:rPr>
              <a:t>r</a:t>
            </a:r>
            <a:r>
              <a:rPr sz="1050" spc="-5" dirty="0">
                <a:solidFill>
                  <a:srgbClr val="33281F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mod</a:t>
            </a:r>
            <a:r>
              <a:rPr sz="1050" spc="50" dirty="0">
                <a:solidFill>
                  <a:srgbClr val="5B524B"/>
                </a:solidFill>
                <a:latin typeface="Arial"/>
                <a:cs typeface="Arial"/>
              </a:rPr>
              <a:t>e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-75" dirty="0">
                <a:solidFill>
                  <a:srgbClr val="49423A"/>
                </a:solidFill>
                <a:latin typeface="Arial"/>
                <a:cs typeface="Arial"/>
              </a:rPr>
              <a:t>s</a:t>
            </a:r>
            <a:r>
              <a:rPr sz="1050" spc="-6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can</a:t>
            </a:r>
            <a:r>
              <a:rPr sz="1050" spc="-9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hand</a:t>
            </a:r>
            <a:r>
              <a:rPr sz="1050" spc="-3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5" dirty="0">
                <a:solidFill>
                  <a:srgbClr val="5B524B"/>
                </a:solidFill>
                <a:latin typeface="Arial"/>
                <a:cs typeface="Arial"/>
              </a:rPr>
              <a:t>e</a:t>
            </a:r>
            <a:r>
              <a:rPr sz="1050" spc="-2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49423A"/>
                </a:solidFill>
                <a:latin typeface="Arial"/>
                <a:cs typeface="Arial"/>
              </a:rPr>
              <a:t>more</a:t>
            </a:r>
            <a:r>
              <a:rPr sz="1050" spc="-8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9423A"/>
                </a:solidFill>
                <a:latin typeface="Arial"/>
                <a:cs typeface="Arial"/>
              </a:rPr>
              <a:t>comp</a:t>
            </a:r>
            <a:r>
              <a:rPr sz="1050" spc="60" dirty="0">
                <a:solidFill>
                  <a:srgbClr val="49423A"/>
                </a:solidFill>
                <a:latin typeface="Arial"/>
                <a:cs typeface="Arial"/>
              </a:rPr>
              <a:t>l</a:t>
            </a:r>
            <a:r>
              <a:rPr sz="1050" spc="-30" dirty="0">
                <a:solidFill>
                  <a:srgbClr val="49423A"/>
                </a:solidFill>
                <a:latin typeface="Arial"/>
                <a:cs typeface="Arial"/>
              </a:rPr>
              <a:t>ex</a:t>
            </a:r>
            <a:r>
              <a:rPr sz="1050" spc="-1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49423A"/>
                </a:solidFill>
                <a:latin typeface="Arial"/>
                <a:cs typeface="Arial"/>
              </a:rPr>
              <a:t>pro</a:t>
            </a:r>
            <a:r>
              <a:rPr sz="1050" spc="85" dirty="0">
                <a:solidFill>
                  <a:srgbClr val="49423A"/>
                </a:solidFill>
                <a:latin typeface="Arial"/>
                <a:cs typeface="Arial"/>
              </a:rPr>
              <a:t>b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-20" dirty="0">
                <a:solidFill>
                  <a:srgbClr val="49423A"/>
                </a:solidFill>
                <a:latin typeface="Arial"/>
                <a:cs typeface="Arial"/>
              </a:rPr>
              <a:t>ems</a:t>
            </a:r>
            <a:r>
              <a:rPr sz="1050" spc="-4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compared</a:t>
            </a:r>
            <a:r>
              <a:rPr sz="1050" spc="-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49423A"/>
                </a:solidFill>
                <a:latin typeface="Arial"/>
                <a:cs typeface="Arial"/>
              </a:rPr>
              <a:t>to</a:t>
            </a:r>
            <a:r>
              <a:rPr sz="1050" spc="-12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75" dirty="0">
                <a:solidFill>
                  <a:srgbClr val="49423A"/>
                </a:solidFill>
                <a:latin typeface="Arial"/>
                <a:cs typeface="Arial"/>
              </a:rPr>
              <a:t>the</a:t>
            </a:r>
            <a:r>
              <a:rPr sz="105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24B"/>
                </a:solidFill>
                <a:latin typeface="Arial"/>
                <a:cs typeface="Arial"/>
              </a:rPr>
              <a:t>limited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capab</a:t>
            </a:r>
            <a:r>
              <a:rPr sz="1050" spc="40" dirty="0">
                <a:solidFill>
                  <a:srgbClr val="49423A"/>
                </a:solidFill>
                <a:latin typeface="Arial"/>
                <a:cs typeface="Arial"/>
              </a:rPr>
              <a:t>i</a:t>
            </a:r>
            <a:r>
              <a:rPr sz="1050" spc="50" dirty="0">
                <a:solidFill>
                  <a:srgbClr val="49423A"/>
                </a:solidFill>
                <a:latin typeface="Arial"/>
                <a:cs typeface="Arial"/>
              </a:rPr>
              <a:t>l</a:t>
            </a:r>
            <a:r>
              <a:rPr sz="1050" spc="25" dirty="0">
                <a:solidFill>
                  <a:srgbClr val="49423A"/>
                </a:solidFill>
                <a:latin typeface="Arial"/>
                <a:cs typeface="Arial"/>
              </a:rPr>
              <a:t>ities</a:t>
            </a:r>
            <a:r>
              <a:rPr sz="1050" spc="-10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35" dirty="0">
                <a:solidFill>
                  <a:srgbClr val="5B524B"/>
                </a:solidFill>
                <a:latin typeface="Arial"/>
                <a:cs typeface="Arial"/>
              </a:rPr>
              <a:t>of</a:t>
            </a:r>
            <a:r>
              <a:rPr sz="1050" spc="1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P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e</a:t>
            </a:r>
            <a:r>
              <a:rPr sz="1050" spc="45" dirty="0">
                <a:solidFill>
                  <a:srgbClr val="33281F"/>
                </a:solidFill>
                <a:latin typeface="Arial"/>
                <a:cs typeface="Arial"/>
              </a:rPr>
              <a:t>r</a:t>
            </a:r>
            <a:r>
              <a:rPr sz="1050" spc="15" dirty="0">
                <a:solidFill>
                  <a:srgbClr val="49423A"/>
                </a:solidFill>
                <a:latin typeface="Arial"/>
                <a:cs typeface="Arial"/>
              </a:rPr>
              <a:t>cep</a:t>
            </a:r>
            <a:r>
              <a:rPr sz="1050" spc="110" dirty="0">
                <a:solidFill>
                  <a:srgbClr val="49423A"/>
                </a:solidFill>
                <a:latin typeface="Arial"/>
                <a:cs typeface="Arial"/>
              </a:rPr>
              <a:t>t</a:t>
            </a:r>
            <a:r>
              <a:rPr sz="1050" spc="45" dirty="0">
                <a:solidFill>
                  <a:srgbClr val="33281F"/>
                </a:solidFill>
                <a:latin typeface="Arial"/>
                <a:cs typeface="Arial"/>
              </a:rPr>
              <a:t>r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on.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2843" y="5171711"/>
            <a:ext cx="41211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spc="220" dirty="0">
                <a:solidFill>
                  <a:srgbClr val="2BC1ED"/>
                </a:solidFill>
                <a:latin typeface="Times New Roman"/>
                <a:cs typeface="Times New Roman"/>
              </a:rPr>
              <a:t>03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9814" y="3979797"/>
            <a:ext cx="2496820" cy="906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25" dirty="0">
                <a:solidFill>
                  <a:srgbClr val="111113"/>
                </a:solidFill>
                <a:latin typeface="Arial"/>
                <a:cs typeface="Arial"/>
              </a:rPr>
              <a:t>T</a:t>
            </a:r>
            <a:r>
              <a:rPr sz="1400" b="1" spc="-15" dirty="0">
                <a:solidFill>
                  <a:srgbClr val="111113"/>
                </a:solidFill>
                <a:latin typeface="Arial"/>
                <a:cs typeface="Arial"/>
              </a:rPr>
              <a:t>ra</a:t>
            </a:r>
            <a:r>
              <a:rPr sz="1400" b="1" spc="-50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400" b="1" spc="-45" dirty="0">
                <a:solidFill>
                  <a:srgbClr val="111113"/>
                </a:solidFill>
                <a:latin typeface="Arial"/>
                <a:cs typeface="Arial"/>
              </a:rPr>
              <a:t>n</a:t>
            </a:r>
            <a:r>
              <a:rPr sz="1400" b="1" spc="-70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400" b="1" spc="-180" dirty="0">
                <a:solidFill>
                  <a:srgbClr val="111113"/>
                </a:solidFill>
                <a:latin typeface="Arial"/>
                <a:cs typeface="Arial"/>
              </a:rPr>
              <a:t>n</a:t>
            </a:r>
            <a:r>
              <a:rPr sz="1400" b="1" spc="100" dirty="0">
                <a:solidFill>
                  <a:srgbClr val="111113"/>
                </a:solidFill>
                <a:latin typeface="Arial"/>
                <a:cs typeface="Arial"/>
              </a:rPr>
              <a:t>g</a:t>
            </a:r>
            <a:r>
              <a:rPr sz="1400" b="1" spc="20" dirty="0">
                <a:solidFill>
                  <a:srgbClr val="111113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400" b="1" spc="-185" dirty="0">
                <a:solidFill>
                  <a:srgbClr val="111113"/>
                </a:solidFill>
                <a:latin typeface="Arial"/>
                <a:cs typeface="Arial"/>
              </a:rPr>
              <a:t>g</a:t>
            </a:r>
            <a:r>
              <a:rPr sz="1400" b="1" spc="-15" dirty="0">
                <a:solidFill>
                  <a:srgbClr val="111113"/>
                </a:solidFill>
                <a:latin typeface="Arial"/>
                <a:cs typeface="Arial"/>
              </a:rPr>
              <a:t>or</a:t>
            </a:r>
            <a:r>
              <a:rPr sz="1400" b="1" spc="-65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400" b="1" spc="-45" dirty="0">
                <a:solidFill>
                  <a:srgbClr val="111113"/>
                </a:solidFill>
                <a:latin typeface="Arial"/>
                <a:cs typeface="Arial"/>
              </a:rPr>
              <a:t>thm</a:t>
            </a:r>
            <a:endParaRPr sz="1400" dirty="0">
              <a:latin typeface="Arial"/>
              <a:cs typeface="Arial"/>
            </a:endParaRPr>
          </a:p>
          <a:p>
            <a:pPr marL="12700" marR="5080" indent="6985">
              <a:lnSpc>
                <a:spcPct val="138300"/>
              </a:lnSpc>
              <a:spcBef>
                <a:spcPts val="300"/>
              </a:spcBef>
            </a:pPr>
            <a:r>
              <a:rPr sz="1050" spc="30" dirty="0">
                <a:solidFill>
                  <a:srgbClr val="49423A"/>
                </a:solidFill>
                <a:latin typeface="Arial"/>
                <a:cs typeface="Arial"/>
              </a:rPr>
              <a:t>Perceptron</a:t>
            </a:r>
            <a:r>
              <a:rPr sz="1050" spc="-1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-30" dirty="0">
                <a:solidFill>
                  <a:srgbClr val="5B524B"/>
                </a:solidFill>
                <a:latin typeface="Arial"/>
                <a:cs typeface="Arial"/>
              </a:rPr>
              <a:t>uses</a:t>
            </a:r>
            <a:r>
              <a:rPr sz="1050" spc="-6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B524B"/>
                </a:solidFill>
                <a:latin typeface="Arial"/>
                <a:cs typeface="Arial"/>
              </a:rPr>
              <a:t>a</a:t>
            </a:r>
            <a:r>
              <a:rPr sz="1050" spc="-8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9423A"/>
                </a:solidFill>
                <a:latin typeface="Arial"/>
                <a:cs typeface="Arial"/>
              </a:rPr>
              <a:t>s</a:t>
            </a:r>
            <a:r>
              <a:rPr sz="1050" spc="20" dirty="0">
                <a:solidFill>
                  <a:srgbClr val="49423A"/>
                </a:solidFill>
                <a:latin typeface="Arial"/>
                <a:cs typeface="Arial"/>
              </a:rPr>
              <a:t>i</a:t>
            </a:r>
            <a:r>
              <a:rPr sz="1050" spc="65" dirty="0">
                <a:solidFill>
                  <a:srgbClr val="49423A"/>
                </a:solidFill>
                <a:latin typeface="Arial"/>
                <a:cs typeface="Arial"/>
              </a:rPr>
              <a:t>mp</a:t>
            </a:r>
            <a:r>
              <a:rPr sz="1050" spc="-55" dirty="0">
                <a:solidFill>
                  <a:srgbClr val="49423A"/>
                </a:solidFill>
                <a:latin typeface="Arial"/>
                <a:cs typeface="Arial"/>
              </a:rPr>
              <a:t>l</a:t>
            </a: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e</a:t>
            </a:r>
            <a:r>
              <a:rPr sz="1050" spc="-2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5B524B"/>
                </a:solidFill>
                <a:latin typeface="Arial"/>
                <a:cs typeface="Arial"/>
              </a:rPr>
              <a:t>l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earn</a:t>
            </a:r>
            <a:r>
              <a:rPr sz="1050" spc="-19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050" spc="50" dirty="0">
                <a:solidFill>
                  <a:srgbClr val="49423A"/>
                </a:solidFill>
                <a:latin typeface="Arial"/>
                <a:cs typeface="Arial"/>
              </a:rPr>
              <a:t>ng</a:t>
            </a:r>
            <a:r>
              <a:rPr sz="1050" spc="-14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95" dirty="0">
                <a:solidFill>
                  <a:srgbClr val="49423A"/>
                </a:solidFill>
                <a:latin typeface="Arial"/>
                <a:cs typeface="Arial"/>
              </a:rPr>
              <a:t>ru</a:t>
            </a:r>
            <a:r>
              <a:rPr sz="1050" spc="-55" dirty="0">
                <a:solidFill>
                  <a:srgbClr val="49423A"/>
                </a:solidFill>
                <a:latin typeface="Arial"/>
                <a:cs typeface="Arial"/>
              </a:rPr>
              <a:t>l</a:t>
            </a:r>
            <a:r>
              <a:rPr sz="1050" spc="20" dirty="0">
                <a:solidFill>
                  <a:srgbClr val="49423A"/>
                </a:solidFill>
                <a:latin typeface="Arial"/>
                <a:cs typeface="Arial"/>
              </a:rPr>
              <a:t>e,</a:t>
            </a:r>
            <a:r>
              <a:rPr sz="1050" spc="1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80" dirty="0">
                <a:solidFill>
                  <a:srgbClr val="5B524B"/>
                </a:solidFill>
                <a:latin typeface="Arial"/>
                <a:cs typeface="Arial"/>
              </a:rPr>
              <a:t>w</a:t>
            </a:r>
            <a:r>
              <a:rPr sz="1050" spc="110" dirty="0">
                <a:solidFill>
                  <a:srgbClr val="5B524B"/>
                </a:solidFill>
                <a:latin typeface="Arial"/>
                <a:cs typeface="Arial"/>
              </a:rPr>
              <a:t>h</a:t>
            </a:r>
            <a:r>
              <a:rPr sz="1050" spc="50" dirty="0">
                <a:solidFill>
                  <a:srgbClr val="111113"/>
                </a:solidFill>
                <a:latin typeface="Arial"/>
                <a:cs typeface="Arial"/>
              </a:rPr>
              <a:t>i</a:t>
            </a:r>
            <a:r>
              <a:rPr sz="1050" spc="-5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e</a:t>
            </a:r>
            <a:r>
              <a:rPr sz="1050" spc="-85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B524B"/>
                </a:solidFill>
                <a:latin typeface="Arial"/>
                <a:cs typeface="Arial"/>
              </a:rPr>
              <a:t>other</a:t>
            </a:r>
            <a:r>
              <a:rPr sz="1050" spc="2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5B524B"/>
                </a:solidFill>
                <a:latin typeface="Arial"/>
                <a:cs typeface="Arial"/>
              </a:rPr>
              <a:t>models</a:t>
            </a:r>
            <a:r>
              <a:rPr sz="1050" spc="-1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5B524B"/>
                </a:solidFill>
                <a:latin typeface="Arial"/>
                <a:cs typeface="Arial"/>
              </a:rPr>
              <a:t>have</a:t>
            </a:r>
            <a:r>
              <a:rPr sz="1050" spc="-7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5B524B"/>
                </a:solidFill>
                <a:latin typeface="Arial"/>
                <a:cs typeface="Arial"/>
              </a:rPr>
              <a:t>more</a:t>
            </a:r>
            <a:r>
              <a:rPr sz="1050" spc="-80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9423A"/>
                </a:solidFill>
                <a:latin typeface="Arial"/>
                <a:cs typeface="Arial"/>
              </a:rPr>
              <a:t>advanced</a:t>
            </a:r>
            <a:r>
              <a:rPr sz="1050" dirty="0">
                <a:solidFill>
                  <a:srgbClr val="49423A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5B524B"/>
                </a:solidFill>
                <a:latin typeface="Arial"/>
                <a:cs typeface="Arial"/>
              </a:rPr>
              <a:t>training</a:t>
            </a:r>
            <a:r>
              <a:rPr sz="1050" spc="-105" dirty="0">
                <a:solidFill>
                  <a:srgbClr val="5B524B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5B524B"/>
                </a:solidFill>
                <a:latin typeface="Arial"/>
                <a:cs typeface="Arial"/>
              </a:rPr>
              <a:t>a</a:t>
            </a:r>
            <a:r>
              <a:rPr sz="1050" spc="-10" dirty="0">
                <a:solidFill>
                  <a:srgbClr val="111113"/>
                </a:solidFill>
                <a:latin typeface="Arial"/>
                <a:cs typeface="Arial"/>
              </a:rPr>
              <a:t>l</a:t>
            </a:r>
            <a:r>
              <a:rPr sz="1050" spc="25" dirty="0">
                <a:solidFill>
                  <a:srgbClr val="49423A"/>
                </a:solidFill>
                <a:latin typeface="Arial"/>
                <a:cs typeface="Arial"/>
              </a:rPr>
              <a:t>gorithms.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0043" y="4271825"/>
            <a:ext cx="40894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spc="204" dirty="0">
                <a:solidFill>
                  <a:srgbClr val="3D75D8"/>
                </a:solidFill>
                <a:latin typeface="Times New Roman"/>
                <a:cs typeface="Times New Roman"/>
              </a:rPr>
              <a:t>02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9543"/>
            <a:ext cx="10043885" cy="1277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20456" y="2830285"/>
            <a:ext cx="2002971" cy="33673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87456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36285">
            <a:solidFill>
              <a:srgbClr val="DBCC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8" y="2322285"/>
            <a:ext cx="0" cy="4383405"/>
          </a:xfrm>
          <a:custGeom>
            <a:avLst/>
            <a:gdLst/>
            <a:ahLst/>
            <a:cxnLst/>
            <a:rect l="l" t="t" r="r" b="b"/>
            <a:pathLst>
              <a:path h="4383405">
                <a:moveTo>
                  <a:pt x="0" y="4383314"/>
                </a:moveTo>
                <a:lnTo>
                  <a:pt x="0" y="0"/>
                </a:lnTo>
              </a:path>
            </a:pathLst>
          </a:custGeom>
          <a:ln w="7257">
            <a:solidFill>
              <a:srgbClr val="13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51143" y="2322285"/>
            <a:ext cx="0" cy="4383405"/>
          </a:xfrm>
          <a:custGeom>
            <a:avLst/>
            <a:gdLst/>
            <a:ahLst/>
            <a:cxnLst/>
            <a:rect l="l" t="t" r="r" b="b"/>
            <a:pathLst>
              <a:path h="4383405">
                <a:moveTo>
                  <a:pt x="0" y="4383314"/>
                </a:moveTo>
                <a:lnTo>
                  <a:pt x="0" y="0"/>
                </a:lnTo>
              </a:path>
            </a:pathLst>
          </a:custGeom>
          <a:ln w="14514">
            <a:solidFill>
              <a:srgbClr val="0F0F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6042" y="2945060"/>
            <a:ext cx="8129905" cy="2294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6680">
              <a:lnSpc>
                <a:spcPct val="100000"/>
              </a:lnSpc>
            </a:pPr>
            <a:r>
              <a:rPr sz="1300" b="1" spc="-40" dirty="0">
                <a:solidFill>
                  <a:srgbClr val="161313"/>
                </a:solidFill>
                <a:latin typeface="Arial"/>
                <a:cs typeface="Arial"/>
              </a:rPr>
              <a:t>Pattern</a:t>
            </a:r>
            <a:r>
              <a:rPr sz="1300" b="1" spc="-160" dirty="0">
                <a:solidFill>
                  <a:srgbClr val="161313"/>
                </a:solidFill>
                <a:latin typeface="Arial"/>
                <a:cs typeface="Arial"/>
              </a:rPr>
              <a:t> </a:t>
            </a:r>
            <a:r>
              <a:rPr sz="1300" b="1" spc="-75" dirty="0">
                <a:solidFill>
                  <a:srgbClr val="161313"/>
                </a:solidFill>
                <a:latin typeface="Arial"/>
                <a:cs typeface="Arial"/>
              </a:rPr>
              <a:t>R</a:t>
            </a:r>
            <a:r>
              <a:rPr sz="1300" b="1" spc="-160" dirty="0">
                <a:solidFill>
                  <a:srgbClr val="161313"/>
                </a:solidFill>
                <a:latin typeface="Arial"/>
                <a:cs typeface="Arial"/>
              </a:rPr>
              <a:t>e</a:t>
            </a:r>
            <a:r>
              <a:rPr sz="1300" b="1" spc="-65" dirty="0">
                <a:solidFill>
                  <a:srgbClr val="161313"/>
                </a:solidFill>
                <a:latin typeface="Arial"/>
                <a:cs typeface="Arial"/>
              </a:rPr>
              <a:t>c</a:t>
            </a:r>
            <a:r>
              <a:rPr sz="1300" b="1" spc="-204" dirty="0">
                <a:solidFill>
                  <a:srgbClr val="161313"/>
                </a:solidFill>
                <a:latin typeface="Arial"/>
                <a:cs typeface="Arial"/>
              </a:rPr>
              <a:t>o</a:t>
            </a:r>
            <a:r>
              <a:rPr sz="1300" b="1" spc="-65" dirty="0">
                <a:solidFill>
                  <a:srgbClr val="161313"/>
                </a:solidFill>
                <a:latin typeface="Arial"/>
                <a:cs typeface="Arial"/>
              </a:rPr>
              <a:t>g</a:t>
            </a:r>
            <a:r>
              <a:rPr sz="1300" b="1" spc="-120" dirty="0">
                <a:solidFill>
                  <a:srgbClr val="161313"/>
                </a:solidFill>
                <a:latin typeface="Arial"/>
                <a:cs typeface="Arial"/>
              </a:rPr>
              <a:t>n</a:t>
            </a:r>
            <a:r>
              <a:rPr sz="1300" b="1" spc="35" dirty="0">
                <a:solidFill>
                  <a:srgbClr val="161313"/>
                </a:solidFill>
                <a:latin typeface="Arial"/>
                <a:cs typeface="Arial"/>
              </a:rPr>
              <a:t>it</a:t>
            </a:r>
            <a:r>
              <a:rPr sz="1300" b="1" spc="-10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1300" b="1" spc="-65" dirty="0">
                <a:solidFill>
                  <a:srgbClr val="161313"/>
                </a:solidFill>
                <a:latin typeface="Arial"/>
                <a:cs typeface="Arial"/>
              </a:rPr>
              <a:t>on</a:t>
            </a:r>
            <a:endParaRPr sz="1300" dirty="0">
              <a:latin typeface="Arial"/>
              <a:cs typeface="Arial"/>
            </a:endParaRPr>
          </a:p>
          <a:p>
            <a:pPr marR="5008245" algn="ctr">
              <a:lnSpc>
                <a:spcPct val="100000"/>
              </a:lnSpc>
              <a:spcBef>
                <a:spcPts val="844"/>
              </a:spcBef>
            </a:pPr>
            <a:r>
              <a:rPr sz="950" spc="5" dirty="0">
                <a:solidFill>
                  <a:srgbClr val="3B312A"/>
                </a:solidFill>
                <a:latin typeface="Arial"/>
                <a:cs typeface="Arial"/>
              </a:rPr>
              <a:t>Percep</a:t>
            </a:r>
            <a:r>
              <a:rPr sz="950" spc="30" dirty="0">
                <a:solidFill>
                  <a:srgbClr val="3B312A"/>
                </a:solidFill>
                <a:latin typeface="Arial"/>
                <a:cs typeface="Arial"/>
              </a:rPr>
              <a:t>t</a:t>
            </a:r>
            <a:r>
              <a:rPr sz="950" spc="20" dirty="0">
                <a:solidFill>
                  <a:srgbClr val="161313"/>
                </a:solidFill>
                <a:latin typeface="Arial"/>
                <a:cs typeface="Arial"/>
              </a:rPr>
              <a:t>r</a:t>
            </a:r>
            <a:r>
              <a:rPr sz="950" spc="25" dirty="0">
                <a:solidFill>
                  <a:srgbClr val="4F463D"/>
                </a:solidFill>
                <a:latin typeface="Arial"/>
                <a:cs typeface="Arial"/>
              </a:rPr>
              <a:t>on</a:t>
            </a:r>
            <a:r>
              <a:rPr sz="950" spc="-6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-15" dirty="0">
                <a:solidFill>
                  <a:srgbClr val="3B312A"/>
                </a:solidFill>
                <a:latin typeface="Arial"/>
                <a:cs typeface="Arial"/>
              </a:rPr>
              <a:t>can</a:t>
            </a:r>
            <a:r>
              <a:rPr sz="950" spc="-55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45B52"/>
                </a:solidFill>
                <a:latin typeface="Arial"/>
                <a:cs typeface="Arial"/>
              </a:rPr>
              <a:t>be</a:t>
            </a:r>
            <a:r>
              <a:rPr sz="950" spc="-130" dirty="0">
                <a:solidFill>
                  <a:srgbClr val="645B52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4F463D"/>
                </a:solidFill>
                <a:latin typeface="Arial"/>
                <a:cs typeface="Arial"/>
              </a:rPr>
              <a:t>used</a:t>
            </a:r>
            <a:r>
              <a:rPr sz="950" spc="-14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35" dirty="0">
                <a:solidFill>
                  <a:srgbClr val="4F463D"/>
                </a:solidFill>
                <a:latin typeface="Arial"/>
                <a:cs typeface="Arial"/>
              </a:rPr>
              <a:t>for</a:t>
            </a:r>
            <a:r>
              <a:rPr sz="950" spc="-1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45B52"/>
                </a:solidFill>
                <a:latin typeface="Arial"/>
                <a:cs typeface="Arial"/>
              </a:rPr>
              <a:t>i</a:t>
            </a:r>
            <a:r>
              <a:rPr sz="950" spc="5" dirty="0">
                <a:solidFill>
                  <a:srgbClr val="3B312A"/>
                </a:solidFill>
                <a:latin typeface="Arial"/>
                <a:cs typeface="Arial"/>
              </a:rPr>
              <a:t>ma</a:t>
            </a:r>
            <a:r>
              <a:rPr sz="950" spc="-90" dirty="0">
                <a:solidFill>
                  <a:srgbClr val="3B312A"/>
                </a:solidFill>
                <a:latin typeface="Arial"/>
                <a:cs typeface="Arial"/>
              </a:rPr>
              <a:t>g</a:t>
            </a:r>
            <a:r>
              <a:rPr sz="950" spc="55" dirty="0">
                <a:solidFill>
                  <a:srgbClr val="3B312A"/>
                </a:solidFill>
                <a:latin typeface="Arial"/>
                <a:cs typeface="Arial"/>
              </a:rPr>
              <a:t>e</a:t>
            </a:r>
            <a:r>
              <a:rPr sz="950" spc="-110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3B312A"/>
                </a:solidFill>
                <a:latin typeface="Arial"/>
                <a:cs typeface="Arial"/>
              </a:rPr>
              <a:t>and</a:t>
            </a:r>
            <a:r>
              <a:rPr sz="950" spc="-110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-15" dirty="0">
                <a:solidFill>
                  <a:srgbClr val="4F463D"/>
                </a:solidFill>
                <a:latin typeface="Arial"/>
                <a:cs typeface="Arial"/>
              </a:rPr>
              <a:t>speech</a:t>
            </a:r>
            <a:endParaRPr sz="950" dirty="0">
              <a:latin typeface="Arial"/>
              <a:cs typeface="Arial"/>
            </a:endParaRPr>
          </a:p>
          <a:p>
            <a:pPr marL="1819275">
              <a:lnSpc>
                <a:spcPct val="100000"/>
              </a:lnSpc>
              <a:spcBef>
                <a:spcPts val="459"/>
              </a:spcBef>
            </a:pPr>
            <a:r>
              <a:rPr sz="950" spc="80" dirty="0">
                <a:solidFill>
                  <a:srgbClr val="645B52"/>
                </a:solidFill>
                <a:latin typeface="Arial"/>
                <a:cs typeface="Arial"/>
              </a:rPr>
              <a:t>r</a:t>
            </a:r>
            <a:r>
              <a:rPr sz="950" spc="-10" dirty="0">
                <a:solidFill>
                  <a:srgbClr val="3B312A"/>
                </a:solidFill>
                <a:latin typeface="Arial"/>
                <a:cs typeface="Arial"/>
              </a:rPr>
              <a:t>ecog</a:t>
            </a:r>
            <a:r>
              <a:rPr sz="950" spc="50" dirty="0">
                <a:solidFill>
                  <a:srgbClr val="3B312A"/>
                </a:solidFill>
                <a:latin typeface="Arial"/>
                <a:cs typeface="Arial"/>
              </a:rPr>
              <a:t>n</a:t>
            </a:r>
            <a:r>
              <a:rPr sz="950" spc="1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950" spc="40" dirty="0">
                <a:solidFill>
                  <a:srgbClr val="3B312A"/>
                </a:solidFill>
                <a:latin typeface="Arial"/>
                <a:cs typeface="Arial"/>
              </a:rPr>
              <a:t>t</a:t>
            </a:r>
            <a:r>
              <a:rPr sz="950" spc="-135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950" spc="55" dirty="0">
                <a:solidFill>
                  <a:srgbClr val="4F463D"/>
                </a:solidFill>
                <a:latin typeface="Arial"/>
                <a:cs typeface="Arial"/>
              </a:rPr>
              <a:t>on</a:t>
            </a:r>
            <a:r>
              <a:rPr sz="950" spc="-125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130" dirty="0">
                <a:solidFill>
                  <a:srgbClr val="645B52"/>
                </a:solidFill>
                <a:latin typeface="Arial"/>
                <a:cs typeface="Arial"/>
              </a:rPr>
              <a:t>t</a:t>
            </a:r>
            <a:r>
              <a:rPr sz="950" spc="-55" dirty="0">
                <a:solidFill>
                  <a:srgbClr val="3B312A"/>
                </a:solidFill>
                <a:latin typeface="Arial"/>
                <a:cs typeface="Arial"/>
              </a:rPr>
              <a:t>a</a:t>
            </a:r>
            <a:r>
              <a:rPr sz="950" spc="-40" dirty="0">
                <a:solidFill>
                  <a:srgbClr val="3B312A"/>
                </a:solidFill>
                <a:latin typeface="Arial"/>
                <a:cs typeface="Arial"/>
              </a:rPr>
              <a:t>s</a:t>
            </a:r>
            <a:r>
              <a:rPr sz="950" spc="20" dirty="0">
                <a:solidFill>
                  <a:srgbClr val="645B52"/>
                </a:solidFill>
                <a:latin typeface="Arial"/>
                <a:cs typeface="Arial"/>
              </a:rPr>
              <a:t>k</a:t>
            </a:r>
            <a:r>
              <a:rPr sz="950" spc="-10" dirty="0">
                <a:solidFill>
                  <a:srgbClr val="645B52"/>
                </a:solidFill>
                <a:latin typeface="Arial"/>
                <a:cs typeface="Arial"/>
              </a:rPr>
              <a:t>s</a:t>
            </a:r>
            <a:r>
              <a:rPr sz="950" spc="40" dirty="0">
                <a:solidFill>
                  <a:srgbClr val="161313"/>
                </a:solidFill>
                <a:latin typeface="Arial"/>
                <a:cs typeface="Arial"/>
              </a:rPr>
              <a:t>.</a:t>
            </a:r>
            <a:endParaRPr sz="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5419090">
              <a:lnSpc>
                <a:spcPct val="100000"/>
              </a:lnSpc>
            </a:pPr>
            <a:r>
              <a:rPr sz="1300" b="1" spc="-85" dirty="0">
                <a:solidFill>
                  <a:srgbClr val="161313"/>
                </a:solidFill>
                <a:latin typeface="Arial"/>
                <a:cs typeface="Arial"/>
              </a:rPr>
              <a:t>C</a:t>
            </a:r>
            <a:r>
              <a:rPr sz="1300" b="1" spc="-90" dirty="0">
                <a:solidFill>
                  <a:srgbClr val="161313"/>
                </a:solidFill>
                <a:latin typeface="Arial"/>
                <a:cs typeface="Arial"/>
              </a:rPr>
              <a:t>l</a:t>
            </a:r>
            <a:r>
              <a:rPr sz="1300" b="1" spc="-80" dirty="0">
                <a:solidFill>
                  <a:srgbClr val="161313"/>
                </a:solidFill>
                <a:latin typeface="Arial"/>
                <a:cs typeface="Arial"/>
              </a:rPr>
              <a:t>assificat</a:t>
            </a:r>
            <a:r>
              <a:rPr sz="1300" b="1" spc="-3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1300" b="1" spc="-100" dirty="0">
                <a:solidFill>
                  <a:srgbClr val="161313"/>
                </a:solidFill>
                <a:latin typeface="Arial"/>
                <a:cs typeface="Arial"/>
              </a:rPr>
              <a:t>on</a:t>
            </a:r>
            <a:endParaRPr sz="1300" dirty="0">
              <a:latin typeface="Arial"/>
              <a:cs typeface="Arial"/>
            </a:endParaRPr>
          </a:p>
          <a:p>
            <a:pPr marL="5419090" marR="5080">
              <a:lnSpc>
                <a:spcPct val="140400"/>
              </a:lnSpc>
              <a:spcBef>
                <a:spcPts val="440"/>
              </a:spcBef>
            </a:pPr>
            <a:r>
              <a:rPr sz="950" spc="15" dirty="0">
                <a:solidFill>
                  <a:srgbClr val="645B52"/>
                </a:solidFill>
                <a:latin typeface="Arial"/>
                <a:cs typeface="Arial"/>
              </a:rPr>
              <a:t>I</a:t>
            </a:r>
            <a:r>
              <a:rPr sz="950" spc="105" dirty="0">
                <a:solidFill>
                  <a:srgbClr val="3B312A"/>
                </a:solidFill>
                <a:latin typeface="Arial"/>
                <a:cs typeface="Arial"/>
              </a:rPr>
              <a:t>t</a:t>
            </a:r>
            <a:r>
              <a:rPr sz="950" spc="-65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15" dirty="0">
                <a:solidFill>
                  <a:srgbClr val="645B52"/>
                </a:solidFill>
                <a:latin typeface="Arial"/>
                <a:cs typeface="Arial"/>
              </a:rPr>
              <a:t>i</a:t>
            </a:r>
            <a:r>
              <a:rPr sz="950" spc="-20" dirty="0">
                <a:solidFill>
                  <a:srgbClr val="645B52"/>
                </a:solidFill>
                <a:latin typeface="Arial"/>
                <a:cs typeface="Arial"/>
              </a:rPr>
              <a:t>s</a:t>
            </a:r>
            <a:r>
              <a:rPr sz="950" spc="-150" dirty="0">
                <a:solidFill>
                  <a:srgbClr val="645B52"/>
                </a:solidFill>
                <a:latin typeface="Arial"/>
                <a:cs typeface="Arial"/>
              </a:rPr>
              <a:t> </a:t>
            </a:r>
            <a:r>
              <a:rPr sz="950" spc="165" dirty="0">
                <a:solidFill>
                  <a:srgbClr val="645B52"/>
                </a:solidFill>
                <a:latin typeface="Arial"/>
                <a:cs typeface="Arial"/>
              </a:rPr>
              <a:t>w</a:t>
            </a:r>
            <a:r>
              <a:rPr sz="950" spc="1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950" spc="5" dirty="0">
                <a:solidFill>
                  <a:srgbClr val="4F463D"/>
                </a:solidFill>
                <a:latin typeface="Arial"/>
                <a:cs typeface="Arial"/>
              </a:rPr>
              <a:t>dely</a:t>
            </a:r>
            <a:r>
              <a:rPr sz="950" spc="-45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45B52"/>
                </a:solidFill>
                <a:latin typeface="Arial"/>
                <a:cs typeface="Arial"/>
              </a:rPr>
              <a:t>used</a:t>
            </a:r>
            <a:r>
              <a:rPr sz="950" spc="-140" dirty="0">
                <a:solidFill>
                  <a:srgbClr val="645B52"/>
                </a:solidFill>
                <a:latin typeface="Arial"/>
                <a:cs typeface="Arial"/>
              </a:rPr>
              <a:t> </a:t>
            </a:r>
            <a:r>
              <a:rPr sz="950" spc="35" dirty="0">
                <a:solidFill>
                  <a:srgbClr val="4F463D"/>
                </a:solidFill>
                <a:latin typeface="Arial"/>
                <a:cs typeface="Arial"/>
              </a:rPr>
              <a:t>for</a:t>
            </a:r>
            <a:r>
              <a:rPr sz="950" spc="45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4F463D"/>
                </a:solidFill>
                <a:latin typeface="Arial"/>
                <a:cs typeface="Arial"/>
              </a:rPr>
              <a:t>binary</a:t>
            </a:r>
            <a:r>
              <a:rPr sz="950" spc="-7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3B312A"/>
                </a:solidFill>
                <a:latin typeface="Arial"/>
                <a:cs typeface="Arial"/>
              </a:rPr>
              <a:t>c</a:t>
            </a:r>
            <a:r>
              <a:rPr sz="950" spc="10" dirty="0">
                <a:solidFill>
                  <a:srgbClr val="161313"/>
                </a:solidFill>
                <a:latin typeface="Arial"/>
                <a:cs typeface="Arial"/>
              </a:rPr>
              <a:t>l</a:t>
            </a:r>
            <a:r>
              <a:rPr sz="950" spc="-25" dirty="0">
                <a:solidFill>
                  <a:srgbClr val="4F463D"/>
                </a:solidFill>
                <a:latin typeface="Arial"/>
                <a:cs typeface="Arial"/>
              </a:rPr>
              <a:t>ass</a:t>
            </a:r>
            <a:r>
              <a:rPr sz="950" spc="-20" dirty="0">
                <a:solidFill>
                  <a:srgbClr val="4F463D"/>
                </a:solidFill>
                <a:latin typeface="Arial"/>
                <a:cs typeface="Arial"/>
              </a:rPr>
              <a:t>i</a:t>
            </a:r>
            <a:r>
              <a:rPr sz="950" spc="20" dirty="0">
                <a:solidFill>
                  <a:srgbClr val="4F463D"/>
                </a:solidFill>
                <a:latin typeface="Arial"/>
                <a:cs typeface="Arial"/>
              </a:rPr>
              <a:t>fication</a:t>
            </a:r>
            <a:r>
              <a:rPr sz="95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5" dirty="0">
                <a:solidFill>
                  <a:srgbClr val="4F463D"/>
                </a:solidFill>
                <a:latin typeface="Arial"/>
                <a:cs typeface="Arial"/>
              </a:rPr>
              <a:t>problems </a:t>
            </a:r>
            <a:r>
              <a:rPr sz="950" spc="70" dirty="0">
                <a:solidFill>
                  <a:srgbClr val="4F463D"/>
                </a:solidFill>
                <a:latin typeface="Arial"/>
                <a:cs typeface="Arial"/>
              </a:rPr>
              <a:t>l</a:t>
            </a:r>
            <a:r>
              <a:rPr sz="950" dirty="0">
                <a:solidFill>
                  <a:srgbClr val="4F463D"/>
                </a:solidFill>
                <a:latin typeface="Arial"/>
                <a:cs typeface="Arial"/>
              </a:rPr>
              <a:t>ike</a:t>
            </a:r>
            <a:r>
              <a:rPr sz="950" spc="-12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-15" dirty="0">
                <a:solidFill>
                  <a:srgbClr val="4F463D"/>
                </a:solidFill>
                <a:latin typeface="Arial"/>
                <a:cs typeface="Arial"/>
              </a:rPr>
              <a:t>spam</a:t>
            </a:r>
            <a:r>
              <a:rPr sz="950" spc="-3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5" dirty="0">
                <a:solidFill>
                  <a:srgbClr val="3B312A"/>
                </a:solidFill>
                <a:latin typeface="Arial"/>
                <a:cs typeface="Arial"/>
              </a:rPr>
              <a:t>dete</a:t>
            </a:r>
            <a:r>
              <a:rPr sz="950" spc="10" dirty="0">
                <a:solidFill>
                  <a:srgbClr val="3B312A"/>
                </a:solidFill>
                <a:latin typeface="Arial"/>
                <a:cs typeface="Arial"/>
              </a:rPr>
              <a:t>c</a:t>
            </a:r>
            <a:r>
              <a:rPr sz="950" spc="110" dirty="0">
                <a:solidFill>
                  <a:srgbClr val="645B52"/>
                </a:solidFill>
                <a:latin typeface="Arial"/>
                <a:cs typeface="Arial"/>
              </a:rPr>
              <a:t>t</a:t>
            </a:r>
            <a:r>
              <a:rPr sz="950" spc="35" dirty="0">
                <a:solidFill>
                  <a:srgbClr val="645B52"/>
                </a:solidFill>
                <a:latin typeface="Arial"/>
                <a:cs typeface="Arial"/>
              </a:rPr>
              <a:t>i</a:t>
            </a:r>
            <a:r>
              <a:rPr sz="950" spc="25" dirty="0">
                <a:solidFill>
                  <a:srgbClr val="645B52"/>
                </a:solidFill>
                <a:latin typeface="Arial"/>
                <a:cs typeface="Arial"/>
              </a:rPr>
              <a:t>on</a:t>
            </a:r>
            <a:r>
              <a:rPr sz="950" spc="-60" dirty="0">
                <a:solidFill>
                  <a:srgbClr val="645B52"/>
                </a:solidFill>
                <a:latin typeface="Arial"/>
                <a:cs typeface="Arial"/>
              </a:rPr>
              <a:t> </a:t>
            </a:r>
            <a:r>
              <a:rPr sz="950" spc="-15" dirty="0">
                <a:solidFill>
                  <a:srgbClr val="3B312A"/>
                </a:solidFill>
                <a:latin typeface="Arial"/>
                <a:cs typeface="Arial"/>
              </a:rPr>
              <a:t>and</a:t>
            </a:r>
            <a:r>
              <a:rPr sz="950" spc="-50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4F463D"/>
                </a:solidFill>
                <a:latin typeface="Arial"/>
                <a:cs typeface="Arial"/>
              </a:rPr>
              <a:t>sent</a:t>
            </a:r>
            <a:r>
              <a:rPr sz="950" spc="50" dirty="0">
                <a:solidFill>
                  <a:srgbClr val="4F463D"/>
                </a:solidFill>
                <a:latin typeface="Arial"/>
                <a:cs typeface="Arial"/>
              </a:rPr>
              <a:t>i</a:t>
            </a:r>
            <a:r>
              <a:rPr sz="950" spc="15" dirty="0">
                <a:solidFill>
                  <a:srgbClr val="4F463D"/>
                </a:solidFill>
                <a:latin typeface="Arial"/>
                <a:cs typeface="Arial"/>
              </a:rPr>
              <a:t>ment</a:t>
            </a:r>
            <a:r>
              <a:rPr sz="950" spc="-60" dirty="0">
                <a:solidFill>
                  <a:srgbClr val="4F463D"/>
                </a:solidFill>
                <a:latin typeface="Arial"/>
                <a:cs typeface="Arial"/>
              </a:rPr>
              <a:t> </a:t>
            </a:r>
            <a:r>
              <a:rPr sz="950" spc="15" dirty="0">
                <a:solidFill>
                  <a:srgbClr val="4F463D"/>
                </a:solidFill>
                <a:latin typeface="Arial"/>
                <a:cs typeface="Arial"/>
              </a:rPr>
              <a:t>ana</a:t>
            </a:r>
            <a:r>
              <a:rPr sz="950" spc="-20" dirty="0">
                <a:solidFill>
                  <a:srgbClr val="4F463D"/>
                </a:solidFill>
                <a:latin typeface="Arial"/>
                <a:cs typeface="Arial"/>
              </a:rPr>
              <a:t>l</a:t>
            </a:r>
            <a:r>
              <a:rPr sz="950" spc="-35" dirty="0">
                <a:solidFill>
                  <a:srgbClr val="4F463D"/>
                </a:solidFill>
                <a:latin typeface="Arial"/>
                <a:cs typeface="Arial"/>
              </a:rPr>
              <a:t>y</a:t>
            </a:r>
            <a:r>
              <a:rPr sz="950" spc="50" dirty="0">
                <a:solidFill>
                  <a:srgbClr val="4F463D"/>
                </a:solidFill>
                <a:latin typeface="Arial"/>
                <a:cs typeface="Arial"/>
              </a:rPr>
              <a:t>s</a:t>
            </a:r>
            <a:r>
              <a:rPr sz="950" spc="1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950" spc="-45" dirty="0">
                <a:solidFill>
                  <a:srgbClr val="4F463D"/>
                </a:solidFill>
                <a:latin typeface="Arial"/>
                <a:cs typeface="Arial"/>
              </a:rPr>
              <a:t>s.</a:t>
            </a:r>
            <a:endParaRPr sz="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R="2756535" algn="ctr">
              <a:lnSpc>
                <a:spcPct val="100000"/>
              </a:lnSpc>
            </a:pPr>
            <a:r>
              <a:rPr sz="1300" b="1" spc="-60" dirty="0">
                <a:solidFill>
                  <a:srgbClr val="161313"/>
                </a:solidFill>
                <a:latin typeface="Arial"/>
                <a:cs typeface="Arial"/>
              </a:rPr>
              <a:t>Predict</a:t>
            </a:r>
            <a:r>
              <a:rPr sz="1300" b="1" spc="-75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1300" b="1" spc="-65" dirty="0">
                <a:solidFill>
                  <a:srgbClr val="161313"/>
                </a:solidFill>
                <a:latin typeface="Arial"/>
                <a:cs typeface="Arial"/>
              </a:rPr>
              <a:t>on</a:t>
            </a:r>
            <a:endParaRPr sz="1300" dirty="0">
              <a:latin typeface="Arial"/>
              <a:cs typeface="Arial"/>
            </a:endParaRPr>
          </a:p>
          <a:p>
            <a:pPr marR="5059045" algn="ctr">
              <a:lnSpc>
                <a:spcPct val="100000"/>
              </a:lnSpc>
              <a:spcBef>
                <a:spcPts val="844"/>
              </a:spcBef>
            </a:pPr>
            <a:r>
              <a:rPr sz="950" spc="5" dirty="0">
                <a:solidFill>
                  <a:srgbClr val="3B312A"/>
                </a:solidFill>
                <a:latin typeface="Arial"/>
                <a:cs typeface="Arial"/>
              </a:rPr>
              <a:t>Perceptron</a:t>
            </a:r>
            <a:r>
              <a:rPr sz="950" spc="-20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-15" dirty="0">
                <a:solidFill>
                  <a:srgbClr val="3B312A"/>
                </a:solidFill>
                <a:latin typeface="Arial"/>
                <a:cs typeface="Arial"/>
              </a:rPr>
              <a:t>can</a:t>
            </a:r>
            <a:r>
              <a:rPr sz="950" spc="-55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45B52"/>
                </a:solidFill>
                <a:latin typeface="Arial"/>
                <a:cs typeface="Arial"/>
              </a:rPr>
              <a:t>be</a:t>
            </a:r>
            <a:r>
              <a:rPr sz="950" spc="-130" dirty="0">
                <a:solidFill>
                  <a:srgbClr val="645B52"/>
                </a:solidFill>
                <a:latin typeface="Arial"/>
                <a:cs typeface="Arial"/>
              </a:rPr>
              <a:t> </a:t>
            </a:r>
            <a:r>
              <a:rPr sz="950" spc="130" dirty="0">
                <a:solidFill>
                  <a:srgbClr val="3B312A"/>
                </a:solidFill>
                <a:latin typeface="Arial"/>
                <a:cs typeface="Arial"/>
              </a:rPr>
              <a:t>t</a:t>
            </a:r>
            <a:r>
              <a:rPr sz="950" spc="20" dirty="0">
                <a:solidFill>
                  <a:srgbClr val="161313"/>
                </a:solidFill>
                <a:latin typeface="Arial"/>
                <a:cs typeface="Arial"/>
              </a:rPr>
              <a:t>r</a:t>
            </a:r>
            <a:r>
              <a:rPr sz="950" spc="-15" dirty="0">
                <a:solidFill>
                  <a:srgbClr val="3B312A"/>
                </a:solidFill>
                <a:latin typeface="Arial"/>
                <a:cs typeface="Arial"/>
              </a:rPr>
              <a:t>a</a:t>
            </a:r>
            <a:r>
              <a:rPr sz="950" spc="70" dirty="0">
                <a:solidFill>
                  <a:srgbClr val="645B52"/>
                </a:solidFill>
                <a:latin typeface="Arial"/>
                <a:cs typeface="Arial"/>
              </a:rPr>
              <a:t>i</a:t>
            </a:r>
            <a:r>
              <a:rPr sz="950" spc="-20" dirty="0">
                <a:solidFill>
                  <a:srgbClr val="645B52"/>
                </a:solidFill>
                <a:latin typeface="Arial"/>
                <a:cs typeface="Arial"/>
              </a:rPr>
              <a:t>n</a:t>
            </a:r>
            <a:r>
              <a:rPr sz="950" dirty="0">
                <a:solidFill>
                  <a:srgbClr val="3B312A"/>
                </a:solidFill>
                <a:latin typeface="Arial"/>
                <a:cs typeface="Arial"/>
              </a:rPr>
              <a:t>ed</a:t>
            </a:r>
            <a:r>
              <a:rPr sz="950" spc="-65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3B312A"/>
                </a:solidFill>
                <a:latin typeface="Arial"/>
                <a:cs typeface="Arial"/>
              </a:rPr>
              <a:t>to</a:t>
            </a:r>
            <a:r>
              <a:rPr sz="950" spc="-25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-15" dirty="0">
                <a:solidFill>
                  <a:srgbClr val="3B312A"/>
                </a:solidFill>
                <a:latin typeface="Arial"/>
                <a:cs typeface="Arial"/>
              </a:rPr>
              <a:t>make</a:t>
            </a:r>
            <a:r>
              <a:rPr sz="950" spc="-30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3B312A"/>
                </a:solidFill>
                <a:latin typeface="Arial"/>
                <a:cs typeface="Arial"/>
              </a:rPr>
              <a:t>p</a:t>
            </a:r>
            <a:r>
              <a:rPr sz="950" spc="80" dirty="0">
                <a:solidFill>
                  <a:srgbClr val="645B52"/>
                </a:solidFill>
                <a:latin typeface="Arial"/>
                <a:cs typeface="Arial"/>
              </a:rPr>
              <a:t>r</a:t>
            </a:r>
            <a:r>
              <a:rPr sz="950" dirty="0">
                <a:solidFill>
                  <a:srgbClr val="3B312A"/>
                </a:solidFill>
                <a:latin typeface="Arial"/>
                <a:cs typeface="Arial"/>
              </a:rPr>
              <a:t>e</a:t>
            </a:r>
            <a:r>
              <a:rPr sz="950" spc="25" dirty="0">
                <a:solidFill>
                  <a:srgbClr val="3B312A"/>
                </a:solidFill>
                <a:latin typeface="Arial"/>
                <a:cs typeface="Arial"/>
              </a:rPr>
              <a:t>d</a:t>
            </a:r>
            <a:r>
              <a:rPr sz="950" spc="60" dirty="0">
                <a:solidFill>
                  <a:srgbClr val="645B52"/>
                </a:solidFill>
                <a:latin typeface="Arial"/>
                <a:cs typeface="Arial"/>
              </a:rPr>
              <a:t>ict</a:t>
            </a:r>
            <a:r>
              <a:rPr sz="950" spc="-40" dirty="0">
                <a:solidFill>
                  <a:srgbClr val="645B52"/>
                </a:solidFill>
                <a:latin typeface="Arial"/>
                <a:cs typeface="Arial"/>
              </a:rPr>
              <a:t>i</a:t>
            </a:r>
            <a:r>
              <a:rPr sz="950" spc="-10" dirty="0">
                <a:solidFill>
                  <a:srgbClr val="645B52"/>
                </a:solidFill>
                <a:latin typeface="Arial"/>
                <a:cs typeface="Arial"/>
              </a:rPr>
              <a:t>ons </a:t>
            </a:r>
            <a:r>
              <a:rPr sz="950" spc="-20" dirty="0">
                <a:solidFill>
                  <a:srgbClr val="3B312A"/>
                </a:solidFill>
                <a:latin typeface="Arial"/>
                <a:cs typeface="Arial"/>
              </a:rPr>
              <a:t>bas</a:t>
            </a:r>
            <a:r>
              <a:rPr sz="950" spc="-75" dirty="0">
                <a:solidFill>
                  <a:srgbClr val="3B312A"/>
                </a:solidFill>
                <a:latin typeface="Arial"/>
                <a:cs typeface="Arial"/>
              </a:rPr>
              <a:t>e</a:t>
            </a:r>
            <a:r>
              <a:rPr sz="950" spc="95" dirty="0">
                <a:solidFill>
                  <a:srgbClr val="645B52"/>
                </a:solidFill>
                <a:latin typeface="Arial"/>
                <a:cs typeface="Arial"/>
              </a:rPr>
              <a:t>d</a:t>
            </a:r>
            <a:r>
              <a:rPr sz="950" spc="-145" dirty="0">
                <a:solidFill>
                  <a:srgbClr val="645B52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4F463D"/>
                </a:solidFill>
                <a:latin typeface="Arial"/>
                <a:cs typeface="Arial"/>
              </a:rPr>
              <a:t>on</a:t>
            </a:r>
            <a:endParaRPr sz="950" dirty="0">
              <a:latin typeface="Arial"/>
              <a:cs typeface="Arial"/>
            </a:endParaRPr>
          </a:p>
          <a:p>
            <a:pPr marR="2832100" algn="ctr">
              <a:lnSpc>
                <a:spcPct val="100000"/>
              </a:lnSpc>
              <a:spcBef>
                <a:spcPts val="459"/>
              </a:spcBef>
            </a:pPr>
            <a:r>
              <a:rPr sz="950" spc="35" dirty="0">
                <a:solidFill>
                  <a:srgbClr val="4F463D"/>
                </a:solidFill>
                <a:latin typeface="Arial"/>
                <a:cs typeface="Arial"/>
              </a:rPr>
              <a:t>h</a:t>
            </a:r>
            <a:r>
              <a:rPr sz="950" spc="1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950" spc="25" dirty="0">
                <a:solidFill>
                  <a:srgbClr val="4F463D"/>
                </a:solidFill>
                <a:latin typeface="Arial"/>
                <a:cs typeface="Arial"/>
              </a:rPr>
              <a:t>sto</a:t>
            </a:r>
            <a:r>
              <a:rPr sz="950" spc="90" dirty="0">
                <a:solidFill>
                  <a:srgbClr val="4F463D"/>
                </a:solidFill>
                <a:latin typeface="Arial"/>
                <a:cs typeface="Arial"/>
              </a:rPr>
              <a:t>r</a:t>
            </a:r>
            <a:r>
              <a:rPr sz="950" spc="10" dirty="0">
                <a:solidFill>
                  <a:srgbClr val="161313"/>
                </a:solidFill>
                <a:latin typeface="Arial"/>
                <a:cs typeface="Arial"/>
              </a:rPr>
              <a:t>i</a:t>
            </a:r>
            <a:r>
              <a:rPr sz="950" spc="-20" dirty="0">
                <a:solidFill>
                  <a:srgbClr val="3B312A"/>
                </a:solidFill>
                <a:latin typeface="Arial"/>
                <a:cs typeface="Arial"/>
              </a:rPr>
              <a:t>cal</a:t>
            </a:r>
            <a:r>
              <a:rPr sz="950" spc="-60" dirty="0">
                <a:solidFill>
                  <a:srgbClr val="3B312A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4F463D"/>
                </a:solidFill>
                <a:latin typeface="Arial"/>
                <a:cs typeface="Arial"/>
              </a:rPr>
              <a:t>data.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8" name="AutoShape 2" descr="https://euc-powerpoint.officeapps.live.com/pods/GetClipboardImage.ashx?Id=36928074-8d91-439a-9f9b-4473a46ee9e4&amp;DC=GEU9&amp;pkey=eecca319-bb49-4db6-a270-747e89604b75&amp;wdwaccluster=GEU9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 descr="https://euc-powerpoint.officeapps.live.com/pods/GetClipboardImage.ashx?Id=36928074-8d91-439a-9f9b-4473a46ee9e4&amp;DC=GEU9&amp;pkey=eecca319-bb49-4db6-a270-747e89604b75&amp;wdwaccluster=GEU9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https://euc-powerpoint.officeapps.live.com/pods/GetClipboardImage.ashx?Id=32aa6398-5ebc-42b3-a922-23e03825c4c9&amp;DC=GEU9&amp;pkey=7155d466-4f4f-4cfc-8596-34c714da913f&amp;wdwaccluster=GEU9"/>
          <p:cNvSpPr>
            <a:spLocks noChangeAspect="1" noChangeArrowheads="1"/>
          </p:cNvSpPr>
          <p:nvPr/>
        </p:nvSpPr>
        <p:spPr bwMode="auto">
          <a:xfrm>
            <a:off x="51752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257302" y="2706957"/>
            <a:ext cx="7543800" cy="2280323"/>
          </a:xfrm>
        </p:spPr>
        <p:txBody>
          <a:bodyPr anchor="ctr">
            <a:normAutofit/>
          </a:bodyPr>
          <a:lstStyle/>
          <a:p>
            <a:r>
              <a:rPr lang="en-US" sz="8000" dirty="0">
                <a:latin typeface="Calibri Light" panose="020F0302020204030204" pitchFamily="34" charset="0"/>
                <a:cs typeface="Calibri Light" panose="020F0302020204030204" pitchFamily="34" charset="0"/>
              </a:rPr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238146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39472" y="1872006"/>
            <a:ext cx="3700835" cy="897712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Introduction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39470" y="3275152"/>
            <a:ext cx="3711550" cy="2957170"/>
          </a:xfrm>
        </p:spPr>
        <p:txBody>
          <a:bodyPr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CNN Definition: Convolutional Neural Networks are a specialized type of deep neural networks designed primarily for analyzing visual data, particularly images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Architecture Overview: CNNs comprise layers that perform operations like convolution, pooling, and fully connected layers for feature extraction, dimensionality reduction, and classification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9CB0DF-B0D2-AE8E-4507-83B55A4516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2" r="37904" b="-2"/>
          <a:stretch/>
        </p:blipFill>
        <p:spPr>
          <a:xfrm>
            <a:off x="4379143" y="1057283"/>
            <a:ext cx="5679257" cy="5657842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444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39472" y="1872006"/>
            <a:ext cx="3700835" cy="897712"/>
          </a:xfrm>
        </p:spPr>
        <p:txBody>
          <a:bodyPr anchor="b">
            <a:no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Key Components of CNNs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39470" y="3275152"/>
            <a:ext cx="3711550" cy="2957170"/>
          </a:xfrm>
        </p:spPr>
        <p:txBody>
          <a:bodyPr vert="horz" wrap="square" lIns="75438" tIns="37719" rIns="75438" bIns="37719" rtlCol="0" anchor="t">
            <a:normAutofit fontScale="85000" lnSpcReduction="1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Convolutional Layers: These layers apply convolutional filters to extract features like edges, textures, or patterns from images</a:t>
            </a:r>
          </a:p>
          <a:p>
            <a:pPr marL="66294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Pooling Layers: They perform </a:t>
            </a:r>
            <a:r>
              <a:rPr lang="en-US" dirty="0" err="1"/>
              <a:t>downsampling</a:t>
            </a:r>
            <a:r>
              <a:rPr lang="en-US" dirty="0"/>
              <a:t>, reducing the dimensions of extracted features while retaining critical information</a:t>
            </a:r>
          </a:p>
          <a:p>
            <a:pPr marL="66294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Fully Connected Layers: The final layers that perform classification or regression based on the extracted features</a:t>
            </a:r>
          </a:p>
          <a:p>
            <a:pPr marL="377190" lvl="1"/>
            <a:endParaRPr lang="en-US" sz="1485" dirty="0">
              <a:cs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143000"/>
            <a:ext cx="5867400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2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94030" y="1409320"/>
            <a:ext cx="8667826" cy="1583291"/>
          </a:xfrm>
        </p:spPr>
        <p:txBody>
          <a:bodyPr anchor="b">
            <a:normAutofit/>
          </a:bodyPr>
          <a:lstStyle/>
          <a:p>
            <a:r>
              <a:rPr lang="en-US" sz="4950"/>
              <a:t>Differences(CNN VS. Perceptron)</a:t>
            </a:r>
          </a:p>
        </p:txBody>
      </p:sp>
      <p:sp>
        <p:nvSpPr>
          <p:cNvPr id="18" name="Content Placeholder"/>
          <p:cNvSpPr>
            <a:spLocks noGrp="1"/>
          </p:cNvSpPr>
          <p:nvPr>
            <p:ph idx="1"/>
          </p:nvPr>
        </p:nvSpPr>
        <p:spPr>
          <a:xfrm>
            <a:off x="694030" y="3810522"/>
            <a:ext cx="8670341" cy="2397191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Depth: CNNs are deeper, allowing them to learn hierarchical representations and understand spatial relations in </a:t>
            </a:r>
            <a:r>
              <a:rPr lang="en-US" dirty="0" smtClean="0"/>
              <a:t>images.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Functionality: CNNs' ability to understand spatial features enables better image analysis compared to </a:t>
            </a:r>
            <a:r>
              <a:rPr lang="en-US" dirty="0" smtClean="0"/>
              <a:t>SLPs.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9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1757" y="1592107"/>
            <a:ext cx="9154885" cy="353943"/>
          </a:xfrm>
        </p:spPr>
        <p:txBody>
          <a:bodyPr/>
          <a:lstStyle/>
          <a:p>
            <a:r>
              <a:rPr lang="en-US" dirty="0"/>
              <a:t>Applications of CNNs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/>
        <p:txBody>
          <a:bodyPr vert="horz" wrap="square" lIns="75438" tIns="37719" rIns="75438" bIns="37719" rtlCol="0" anchor="t">
            <a:normAutofit/>
          </a:bodyPr>
          <a:lstStyle/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Image </a:t>
            </a:r>
            <a:r>
              <a:rPr lang="en-US" dirty="0"/>
              <a:t>Classification</a:t>
            </a:r>
            <a:endParaRPr lang="en-US" dirty="0">
              <a:cs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Real-world </a:t>
            </a:r>
            <a:r>
              <a:rPr lang="en-US" dirty="0"/>
              <a:t>Examples: Showcases where CNNs have been effectively applied, such as medical imaging , natural language processing , and autonomous vehicles</a:t>
            </a:r>
          </a:p>
        </p:txBody>
      </p:sp>
      <p:pic>
        <p:nvPicPr>
          <p:cNvPr id="4" name="Picture 3" descr="A diagram of animals with red lines&#10;&#10;Description automatically generated">
            <a:extLst>
              <a:ext uri="{FF2B5EF4-FFF2-40B4-BE49-F238E27FC236}">
                <a16:creationId xmlns:a16="http://schemas.microsoft.com/office/drawing/2014/main" id="{53F2BB92-924A-D5F4-D63F-CFB2A6934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1079" y="3752429"/>
            <a:ext cx="4875748" cy="236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0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481</Words>
  <Application>Microsoft Office PowerPoint</Application>
  <PresentationFormat>Custom</PresentationFormat>
  <Paragraphs>75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Bodoni MT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WORKING PRINCIPLE</vt:lpstr>
      <vt:lpstr>ACTIVATION FUNCTIONS</vt:lpstr>
      <vt:lpstr>ADVANTAG E S  AND LIMITATIONS</vt:lpstr>
      <vt:lpstr>PowerPoint Presentation</vt:lpstr>
      <vt:lpstr>PowerPoint Presentation</vt:lpstr>
      <vt:lpstr>CNN</vt:lpstr>
      <vt:lpstr>Introduction</vt:lpstr>
      <vt:lpstr>Key Components of CNNs</vt:lpstr>
      <vt:lpstr>Differences(CNN VS. Perceptron)</vt:lpstr>
      <vt:lpstr>Applications of CNNs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KIMO STORE</cp:lastModifiedBy>
  <cp:revision>11</cp:revision>
  <dcterms:created xsi:type="dcterms:W3CDTF">2023-12-19T04:16:44Z</dcterms:created>
  <dcterms:modified xsi:type="dcterms:W3CDTF">2023-12-20T05:56:53Z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2023-12-19T00:00:00Z</vt:filetime>
  </property>
  <property fmtid="{D5CDD505-2E9C-101B-9397-08002B2CF9AE}" pid="3" name="LastSaved">
    <vt:filetime>2023-12-19T00:00:00Z</vt:filetime>
  </property>
</Properties>
</file>