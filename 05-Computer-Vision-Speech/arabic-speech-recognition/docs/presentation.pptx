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A0C0817-A112-4847-8014-A94B7D2A4EA3}" type="datetime1">
              <a:rPr lang="en-US" smtClean="0"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48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12/22/2024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79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0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55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63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0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15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12/22/2024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0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828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8847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8227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06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9082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80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977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6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FA2B21-3FCD-4721-B95C-427943F61125}" type="datetime1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5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401732C-37EE-4B98-A709-9530173F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54E48C8-2A00-4C54-BC9C-B18EE49E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E0A0544-8F52-43F0-AC3E-DF683908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F4057D3-A680-4443-9E51-ED920A69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F6853A4-7B38-4FDE-B024-AE8BA71E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6ADF4DB-4290-4441-8F8E-04152FE60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B3E315-B8F7-DE24-BD63-39B90BB0B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8253" y="-182472"/>
            <a:ext cx="4094017" cy="28238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262626"/>
                </a:solidFill>
              </a:rPr>
              <a:t>Arabic Text-to-Speech (TTS) System</a:t>
            </a:r>
            <a:br>
              <a:rPr lang="en-US" sz="4800" dirty="0">
                <a:solidFill>
                  <a:srgbClr val="262626"/>
                </a:solidFill>
              </a:rPr>
            </a:br>
            <a:endParaRPr lang="en-US" sz="4800" dirty="0">
              <a:solidFill>
                <a:srgbClr val="262626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3A837-A436-1AAA-A6C9-E837E49E2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69" y="2207950"/>
            <a:ext cx="4094017" cy="379091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 Deep Learning Approach for Generating Clear and Natural Arabic Speech, presented by: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Ahmed Mostafa </a:t>
            </a:r>
            <a:r>
              <a:rPr lang="en-US" sz="2000" b="1" dirty="0" err="1">
                <a:solidFill>
                  <a:srgbClr val="000000"/>
                </a:solidFill>
              </a:rPr>
              <a:t>AbdEl</a:t>
            </a:r>
            <a:r>
              <a:rPr lang="en-US" sz="2000" b="1" dirty="0">
                <a:solidFill>
                  <a:srgbClr val="000000"/>
                </a:solidFill>
              </a:rPr>
              <a:t>-Rahman 20221372883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b="1" dirty="0" err="1">
                <a:solidFill>
                  <a:srgbClr val="000000"/>
                </a:solidFill>
              </a:rPr>
              <a:t>AbdelRahman</a:t>
            </a:r>
            <a:r>
              <a:rPr lang="en-US" sz="2000" b="1" dirty="0">
                <a:solidFill>
                  <a:srgbClr val="000000"/>
                </a:solidFill>
              </a:rPr>
              <a:t> Mohamed Abdel-Hadi 2022513643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Mazen Gaber Mahmoud 	20221372110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n-US" sz="2000" b="1" dirty="0" err="1">
                <a:solidFill>
                  <a:srgbClr val="000000"/>
                </a:solidFill>
              </a:rPr>
              <a:t>AbdelRahman</a:t>
            </a:r>
            <a:r>
              <a:rPr lang="en-US" sz="2000" b="1" dirty="0">
                <a:solidFill>
                  <a:srgbClr val="000000"/>
                </a:solidFill>
              </a:rPr>
              <a:t> Tarek Zaki	20221442265</a:t>
            </a:r>
          </a:p>
          <a:p>
            <a:pPr>
              <a:lnSpc>
                <a:spcPct val="900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4F1AA921-69CD-80EC-6D42-B1E9E625F3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44" r="44152" b="3"/>
          <a:stretch/>
        </p:blipFill>
        <p:spPr>
          <a:xfrm>
            <a:off x="7164475" y="982132"/>
            <a:ext cx="3692795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72260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F6C2-00EE-0BC1-B3AD-4F7F0E09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</a:t>
            </a:r>
            <a:r>
              <a:rPr lang="en-US" dirty="0"/>
              <a:t>: Develop a high-quality Arabic TTS system using deep learning.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40DD2-CCF5-D1BE-56A8-4DFA5B85F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/>
              <a:t>Process</a:t>
            </a:r>
            <a:endParaRPr lang="en-US" sz="3200" i="1" dirty="0"/>
          </a:p>
          <a:p>
            <a:r>
              <a:rPr lang="en-US" dirty="0"/>
              <a:t>Collected audio data from YouTube.</a:t>
            </a:r>
          </a:p>
          <a:p>
            <a:r>
              <a:rPr lang="en-US" dirty="0"/>
              <a:t>Preprocessed data into phonemes for training.</a:t>
            </a:r>
          </a:p>
          <a:p>
            <a:r>
              <a:rPr lang="en-US" dirty="0"/>
              <a:t>Trained </a:t>
            </a:r>
            <a:r>
              <a:rPr lang="en-US" dirty="0" err="1"/>
              <a:t>Tacotron</a:t>
            </a:r>
            <a:r>
              <a:rPr lang="en-US" dirty="0"/>
              <a:t> 2 for Arabic phonetics.</a:t>
            </a:r>
          </a:p>
          <a:p>
            <a:r>
              <a:rPr lang="en-US" dirty="0"/>
              <a:t>Outcome: The model generates natural and clear Arabic </a:t>
            </a:r>
            <a:r>
              <a:rPr lang="en-US" dirty="0" err="1"/>
              <a:t>speec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98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A310-BD38-1F88-034B-37C7A912A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574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TTS?</a:t>
            </a:r>
            <a:br>
              <a:rPr lang="en-US" dirty="0"/>
            </a:br>
            <a:r>
              <a:rPr lang="en-US" dirty="0"/>
              <a:t>Text-to-Speech (TTS) systems convert written text into spoken words.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F97B-C678-13ED-D7E5-D1F3EC99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369350" cy="33189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i="1" dirty="0"/>
              <a:t>Challenges in Arabic:</a:t>
            </a: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 phonetics and dialect variations.</a:t>
            </a:r>
          </a:p>
          <a:p>
            <a:pPr marL="0" indent="0">
              <a:buNone/>
            </a:pPr>
            <a:r>
              <a:rPr lang="en-US" b="1" i="1" dirty="0"/>
              <a:t>Goals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Build an Arabic TTS model.</a:t>
            </a:r>
          </a:p>
          <a:p>
            <a:pPr>
              <a:buFont typeface="+mj-lt"/>
              <a:buAutoNum type="arabicPeriod"/>
            </a:pPr>
            <a:r>
              <a:rPr lang="en-US" dirty="0"/>
              <a:t>Streamline data preparation.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Ensure phonetic accuracy and naturalness in output.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4FFCD-E8F3-3FB4-B08A-C2CB05AEB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696" y="2524118"/>
            <a:ext cx="3553902" cy="355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3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E7CC-3783-A0CC-B26B-23E159D0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214" y="0"/>
            <a:ext cx="9601196" cy="1848256"/>
          </a:xfrm>
        </p:spPr>
        <p:txBody>
          <a:bodyPr/>
          <a:lstStyle/>
          <a:p>
            <a:r>
              <a:rPr lang="en-US" b="1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534C0-3BCA-762A-0CD6-5CDC45A3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214" y="1613349"/>
            <a:ext cx="9601196" cy="3318936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Extracted audio and subtitles from YouTube using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Standardized audio to WAV format at 16 kHz. </a:t>
            </a:r>
          </a:p>
          <a:p>
            <a:pPr marL="0" indent="0">
              <a:buNone/>
            </a:pPr>
            <a:r>
              <a:rPr lang="en-US" sz="2600" b="1" dirty="0"/>
              <a:t>Steps:</a:t>
            </a:r>
            <a:endParaRPr lang="en-US" sz="2600" dirty="0"/>
          </a:p>
          <a:p>
            <a:pPr>
              <a:buFont typeface="+mj-lt"/>
              <a:buAutoNum type="arabicPeriod"/>
            </a:pPr>
            <a:r>
              <a:rPr lang="en-US" sz="2600" dirty="0"/>
              <a:t>Search using Arabic keywords.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Filter videos with Arabic transcripts.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Download and convert audio to WAV format.</a:t>
            </a:r>
          </a:p>
          <a:p>
            <a:pPr>
              <a:buFont typeface="+mj-lt"/>
              <a:buAutoNum type="arabicPeriod"/>
            </a:pPr>
            <a:r>
              <a:rPr lang="en-US" sz="2600" dirty="0"/>
              <a:t>Collect metadata for training. </a:t>
            </a:r>
            <a:r>
              <a:rPr lang="en-US" sz="2600" b="1" dirty="0"/>
              <a:t>Challenges:</a:t>
            </a:r>
            <a:r>
              <a:rPr lang="en-US" sz="2600" dirty="0"/>
              <a:t> Repeated words in subtitles due to YouTube’s segmentation.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14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C82E-7C41-1F38-C871-7CC42961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476294"/>
            <a:ext cx="9601196" cy="1303867"/>
          </a:xfrm>
        </p:spPr>
        <p:txBody>
          <a:bodyPr/>
          <a:lstStyle/>
          <a:p>
            <a:r>
              <a:rPr lang="en-US" b="1" dirty="0"/>
              <a:t>Data </a:t>
            </a:r>
            <a:r>
              <a:rPr lang="en-US" b="1" dirty="0" err="1"/>
              <a:t>Preproccesing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831F5-BB3F-0CEA-45E6-9000676D8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109459"/>
            <a:ext cx="9601196" cy="41940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b="1" dirty="0"/>
              <a:t>Steps:</a:t>
            </a:r>
            <a:endParaRPr lang="en-US" sz="3400" dirty="0"/>
          </a:p>
          <a:p>
            <a:pPr>
              <a:buFont typeface="+mj-lt"/>
              <a:buAutoNum type="arabicPeriod"/>
            </a:pPr>
            <a:r>
              <a:rPr lang="en-US" sz="3400" b="1" dirty="0"/>
              <a:t>Renaming:</a:t>
            </a:r>
            <a:r>
              <a:rPr lang="en-US" sz="3400" dirty="0"/>
              <a:t> Standardized file names</a:t>
            </a:r>
          </a:p>
          <a:p>
            <a:pPr>
              <a:buFont typeface="+mj-lt"/>
              <a:buAutoNum type="arabicPeriod"/>
            </a:pPr>
            <a:r>
              <a:rPr lang="en-US" sz="3400" b="1" dirty="0"/>
              <a:t>Segmentation:</a:t>
            </a:r>
            <a:r>
              <a:rPr lang="en-US" sz="3400" dirty="0"/>
              <a:t> Split audio into &lt;15-second segments.</a:t>
            </a:r>
          </a:p>
          <a:p>
            <a:pPr>
              <a:buFont typeface="+mj-lt"/>
              <a:buAutoNum type="arabicPeriod"/>
            </a:pPr>
            <a:r>
              <a:rPr lang="en-US" sz="3400" b="1" dirty="0"/>
              <a:t>Normalization:</a:t>
            </a:r>
            <a:endParaRPr lang="en-US" sz="3400" dirty="0"/>
          </a:p>
          <a:p>
            <a:pPr marL="742950" lvl="1" indent="-285750">
              <a:buFont typeface="+mj-lt"/>
              <a:buAutoNum type="arabicPeriod"/>
            </a:pPr>
            <a:r>
              <a:rPr lang="en-US" sz="3400" dirty="0"/>
              <a:t>Resampled to 22,050 Hz.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400" dirty="0"/>
              <a:t>Removed silence and standardized amplitude.</a:t>
            </a:r>
          </a:p>
          <a:p>
            <a:pPr>
              <a:buFont typeface="+mj-lt"/>
              <a:buAutoNum type="arabicPeriod"/>
            </a:pPr>
            <a:r>
              <a:rPr lang="en-US" sz="3400" b="1" dirty="0"/>
              <a:t>Transcription:</a:t>
            </a:r>
            <a:r>
              <a:rPr lang="en-US" sz="3400" dirty="0"/>
              <a:t> Generated Arabic text using Whisper.</a:t>
            </a:r>
          </a:p>
          <a:p>
            <a:pPr>
              <a:buFont typeface="+mj-lt"/>
              <a:buAutoNum type="arabicPeriod"/>
            </a:pPr>
            <a:r>
              <a:rPr lang="en-US" sz="3400" b="1" dirty="0"/>
              <a:t>Conversion:</a:t>
            </a:r>
            <a:endParaRPr lang="en-US" sz="3400" dirty="0"/>
          </a:p>
          <a:p>
            <a:pPr marL="742950" lvl="1" indent="-285750">
              <a:buFont typeface="+mj-lt"/>
              <a:buAutoNum type="arabicPeriod"/>
            </a:pPr>
            <a:r>
              <a:rPr lang="en-US" sz="3400" dirty="0"/>
              <a:t>Arabic to Buckwalter transliteration.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400" dirty="0"/>
              <a:t>Buckwalter to phoneme sequences. </a:t>
            </a:r>
            <a:r>
              <a:rPr lang="en-US" sz="3400" b="1" dirty="0"/>
              <a:t>Outcome:</a:t>
            </a:r>
            <a:r>
              <a:rPr lang="en-US" sz="3400" dirty="0"/>
              <a:t> Clean, aligned audio and text pairs.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8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2CBC-9065-283A-760F-0C3C8F93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7881C-EA0A-C6DE-4E22-19BA0521C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Model Used:</a:t>
            </a:r>
            <a:r>
              <a:rPr lang="en-US" dirty="0"/>
              <a:t> </a:t>
            </a:r>
            <a:r>
              <a:rPr lang="en-US" dirty="0" err="1"/>
              <a:t>Tacotron</a:t>
            </a:r>
            <a:r>
              <a:rPr lang="en-US" dirty="0"/>
              <a:t> 2.</a:t>
            </a:r>
            <a:br>
              <a:rPr lang="en-US" dirty="0"/>
            </a:br>
            <a:r>
              <a:rPr lang="en-US" b="1" dirty="0"/>
              <a:t>Key Steps: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Repository:</a:t>
            </a:r>
            <a:r>
              <a:rPr lang="en-US" dirty="0"/>
              <a:t> Cloned </a:t>
            </a:r>
            <a:r>
              <a:rPr lang="en-US" dirty="0" err="1"/>
              <a:t>TTS_Arabic_PyTorch</a:t>
            </a:r>
            <a:r>
              <a:rPr lang="en-US" dirty="0"/>
              <a:t> repo.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Training Adjustments: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Configured dataset paths.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Adjusted batch sizes (8 to 64) for optimization.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Resumed training from saved checkpoints. </a:t>
            </a:r>
            <a:r>
              <a:rPr lang="en-US" b="1" dirty="0"/>
              <a:t>Hardware:</a:t>
            </a:r>
            <a:r>
              <a:rPr lang="en-US" dirty="0"/>
              <a:t> Utilized Google Drive and GPUs for faster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4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6780-F78A-A19B-125E-7E66D524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Results and Evaluation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75AEB-0BEE-83D6-BAFC-C284DC6C5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285999"/>
            <a:ext cx="3936474" cy="228600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500" dirty="0"/>
          </a:p>
          <a:p>
            <a:pPr marL="0" lvl="0" indent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ar-EG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Model Trained from Scratch (5 Epochs):</a:t>
            </a:r>
            <a:endParaRPr lang="en-US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Generated sound had poor quality with noticeable noise.</a:t>
            </a:r>
          </a:p>
          <a:p>
            <a:pPr lvl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Spectrogram showed low red color, indicating weak signal strength.</a:t>
            </a:r>
          </a:p>
          <a:p>
            <a:pPr lvl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Waveform plot was dominated by blue, suggesting low energy or silence.</a:t>
            </a:r>
          </a:p>
          <a:p>
            <a:pPr marL="0" lvl="0" indent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E91B7-1F27-E470-3018-B1306003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539" y="2648931"/>
            <a:ext cx="4822059" cy="34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3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7932-D2CA-BEE7-09A8-B5746234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E46F-8620-6A77-52F7-2B14ACA5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Results and Evaluation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5B51-1482-BC3C-14E5-B7EF23434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285999"/>
            <a:ext cx="5077263" cy="228600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500" dirty="0"/>
          </a:p>
          <a:p>
            <a:pPr marL="0" lvl="0" indent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Arial" panose="020B0604020202020204" pitchFamily="34" charset="0"/>
              </a:rPr>
              <a:t>Model Trained with Pretrained Weights (5 Epochs):</a:t>
            </a:r>
            <a:endParaRPr lang="en-US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Produced poor-quality sound with low volume, followed by silence.</a:t>
            </a:r>
          </a:p>
          <a:p>
            <a:pPr lvl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Spectrogram showed low red color in the first 100 frames, indicating low signal activity.</a:t>
            </a:r>
          </a:p>
          <a:p>
            <a:pPr lvl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Waveform plot started with medium-height blue but later thinned out, suggesting a lack of sustained sound energy.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D72E0C-0C6E-5BE8-B8D8-0D200F78A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771" y="2696065"/>
            <a:ext cx="4715845" cy="335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0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294C-B00D-5BC3-7A7B-97521DAC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EEFF-E982-E5AC-0F4B-5D6CAACCF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5897252" cy="372132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Transcription Quality Issues (Phase 1):</a:t>
            </a:r>
          </a:p>
          <a:p>
            <a:pPr marL="0" indent="0">
              <a:buNone/>
            </a:pPr>
            <a:r>
              <a:rPr lang="en-US" dirty="0"/>
              <a:t>Transcriptions from YouTube videos contained invalid characters, unsuitable for conversion to the Buckwalter format.</a:t>
            </a:r>
          </a:p>
          <a:p>
            <a:r>
              <a:rPr lang="en-US" dirty="0"/>
              <a:t>Repeated Words in Transcriptions (Phase 1):</a:t>
            </a:r>
          </a:p>
          <a:p>
            <a:pPr marL="0" indent="0">
              <a:buNone/>
            </a:pPr>
            <a:r>
              <a:rPr lang="en-US" dirty="0"/>
              <a:t>Existing captions in VTT files, when converted to TXT format, had numerous repeated words requiring extensive preprocessing.</a:t>
            </a:r>
          </a:p>
          <a:p>
            <a:r>
              <a:rPr lang="en-US" dirty="0"/>
              <a:t>Memory Limitations with Batch Size:</a:t>
            </a:r>
          </a:p>
          <a:p>
            <a:pPr marL="0" indent="0">
              <a:buNone/>
            </a:pPr>
            <a:r>
              <a:rPr lang="en-US" dirty="0"/>
              <a:t> Batch size of 32 caused memory exhaustion. Resolved by using a GPU with higher memory capacity.</a:t>
            </a:r>
          </a:p>
          <a:p>
            <a:r>
              <a:rPr lang="en-US" dirty="0"/>
              <a:t>Training Time:</a:t>
            </a:r>
          </a:p>
          <a:p>
            <a:pPr marL="0" indent="0">
              <a:buNone/>
            </a:pPr>
            <a:r>
              <a:rPr lang="en-US" dirty="0"/>
              <a:t>Training a single epoch took 2 to 3 hours, making the process time-intensive and resource-demanding.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A1901-B965-D7EE-4914-8859797C7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52" y="2804704"/>
            <a:ext cx="4091233" cy="271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12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77</TotalTime>
  <Words>508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Garamond</vt:lpstr>
      <vt:lpstr>Organic</vt:lpstr>
      <vt:lpstr>Arabic Text-to-Speech (TTS) System </vt:lpstr>
      <vt:lpstr>Objective: Develop a high-quality Arabic TTS system using deep learning.</vt:lpstr>
      <vt:lpstr>What is TTS? Text-to-Speech (TTS) systems convert written text into spoken words. </vt:lpstr>
      <vt:lpstr>Data Collection</vt:lpstr>
      <vt:lpstr>Data Preproccesing</vt:lpstr>
      <vt:lpstr>Model Training</vt:lpstr>
      <vt:lpstr>Results and Evaluation </vt:lpstr>
      <vt:lpstr>Results and Evaluation 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MazenGaber</dc:creator>
  <cp:lastModifiedBy>احمد مصطفى عبد الرحمن حسن سليمان</cp:lastModifiedBy>
  <cp:revision>2</cp:revision>
  <dcterms:created xsi:type="dcterms:W3CDTF">2024-12-22T01:38:24Z</dcterms:created>
  <dcterms:modified xsi:type="dcterms:W3CDTF">2024-12-22T05:45:44Z</dcterms:modified>
</cp:coreProperties>
</file>